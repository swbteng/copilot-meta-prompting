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  <a:ea typeface="Malgun Gothic"/>
              </a:rPr>
              <a:t>SW BOOTCAMP 13기  ·  C반 4팀  ·  결과보고서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6596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mbria"/>
                <a:ea typeface="Malgun Gothic"/>
              </a:rPr>
              <a:t>Copilot </a:t>
            </a:r>
            <a:r>
              <a:rPr sz="5800" b="1" i="0">
                <a:solidFill>
                  <a:srgbClr val="E4002B"/>
                </a:solidFill>
                <a:latin typeface="Cambria"/>
                <a:ea typeface="Malgun Gothic"/>
              </a:rPr>
              <a:t>Meta-Prompting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CADCFC"/>
                </a:solidFill>
                <a:latin typeface="Calibri"/>
                <a:ea typeface="Malgun Gothic"/>
              </a:rPr>
              <a:t>Copilot Chat 프롬프트를 가로채 자동 정제하는 메타프롬프팅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7040880" cy="566928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6675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@refine </a:t>
            </a:r>
            <a:r>
              <a:rPr sz="1500" b="0" i="0">
                <a:solidFill>
                  <a:srgbClr val="FFFFFF"/>
                </a:solidFill>
                <a:latin typeface="Calibri"/>
                <a:ea typeface="Malgun Gothic"/>
              </a:rPr>
              <a:t>— 거친 한 줄 질문을, 검증된 고품질 프롬프트로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5257800"/>
            <a:ext cx="310896" cy="310896"/>
          </a:xfrm>
          <a:prstGeom prst="ellipse">
            <a:avLst/>
          </a:prstGeom>
          <a:solidFill>
            <a:srgbClr val="E4002B"/>
          </a:solidFill>
          <a:ln w="1905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623559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  <a:ea typeface="Malgun Gothic"/>
              </a:rPr>
              <a:t>정제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9576" y="5402275"/>
            <a:ext cx="768095" cy="21945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7672" y="5257800"/>
            <a:ext cx="310896" cy="310896"/>
          </a:xfrm>
          <a:prstGeom prst="ellipse">
            <a:avLst/>
          </a:prstGeom>
          <a:solidFill>
            <a:srgbClr val="1A253D"/>
          </a:solidFill>
          <a:ln w="1905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1" y="5623559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  <a:ea typeface="Malgun Gothic"/>
              </a:rPr>
              <a:t>검색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5402275"/>
            <a:ext cx="768095" cy="21945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6663" y="5257800"/>
            <a:ext cx="310896" cy="310896"/>
          </a:xfrm>
          <a:prstGeom prst="ellipse">
            <a:avLst/>
          </a:prstGeom>
          <a:solidFill>
            <a:srgbClr val="1A253D"/>
          </a:solidFill>
          <a:ln w="1905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3" y="5623559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  <a:ea typeface="Malgun Gothic"/>
              </a:rPr>
              <a:t>리랭킹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5402275"/>
            <a:ext cx="768095" cy="21945"/>
          </a:xfrm>
          <a:prstGeom prst="rect">
            <a:avLst/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05656" y="5257800"/>
            <a:ext cx="310896" cy="310896"/>
          </a:xfrm>
          <a:prstGeom prst="ellipse">
            <a:avLst/>
          </a:prstGeom>
          <a:solidFill>
            <a:srgbClr val="1A253D"/>
          </a:solidFill>
          <a:ln w="19050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6" y="5623559"/>
            <a:ext cx="950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  <a:ea typeface="Malgun Gothic"/>
              </a:rPr>
              <a:t>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github.com/swbteng/copilot-meta-prompting      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01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왜 메타프롬프팅인가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문제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395728"/>
            <a:ext cx="365760" cy="365760"/>
          </a:xfrm>
          <a:prstGeom prst="ellipse">
            <a:avLst/>
          </a:prstGeom>
          <a:solidFill>
            <a:srgbClr val="18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865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40864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LLM 답 품질은 프롬프트의 질에 좌우된다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좋은 답은 좋은 질문에서 나온다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18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11296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하지만 사용자는 짧고 모호하게 묻는다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예) “정렬 코드 짜줘”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736592"/>
            <a:ext cx="365760" cy="365760"/>
          </a:xfrm>
          <a:prstGeom prst="ellipse">
            <a:avLst/>
          </a:prstGeom>
          <a:solidFill>
            <a:srgbClr val="18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81728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→ 빗나간 답 → 다시 묻는 비효율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왕복이 늘수록 토큰·시간이 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91640"/>
            <a:ext cx="5193792" cy="21031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38528"/>
            <a:ext cx="46634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4002B"/>
                </a:solidFill>
                <a:latin typeface="Calibri"/>
                <a:ea typeface="Malgun Gothic"/>
              </a:rPr>
              <a:t>핵심 통찰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정답은 “더 비싼 모델”이 아니라 “더 좋은 프롬프트”다.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하위(소형) 모델도 잘 설계된 프롬프트를 받으면 고품질 결과를 낸다 → 토큰 비용 절감.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50208"/>
            <a:ext cx="5193792" cy="2039112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87952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E4002B"/>
                </a:solidFill>
                <a:latin typeface="Calibri"/>
                <a:ea typeface="Malgun Gothic"/>
              </a:rPr>
              <a:t>해법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81F2B"/>
                </a:solidFill>
                <a:latin typeface="Calibri"/>
                <a:ea typeface="Malgun Gothic"/>
              </a:rPr>
              <a:t>사용자 입력과 LLM 사이에 ‘정제 계층’을 끼워 넣는다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단, 사용자 통제권을 지키려 보내기 전 미리보기·승인 게이트를 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5046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1">
                <a:solidFill>
                  <a:srgbClr val="A80020"/>
                </a:solidFill>
                <a:latin typeface="Calibri"/>
                <a:ea typeface="Malgun Gothic"/>
              </a:rPr>
              <a:t>“끼어들되 가로막지 않는다”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02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한 줄 정의와 핵심 가치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08792" cy="132588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VS Code Copilot Chat에 </a:t>
            </a:r>
            <a:r>
              <a:rPr sz="1800" b="1" i="0">
                <a:solidFill>
                  <a:srgbClr val="E4002B"/>
                </a:solidFill>
                <a:latin typeface="Calibri"/>
                <a:ea typeface="Malgun Gothic"/>
              </a:rPr>
              <a:t>@refine</a:t>
            </a: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를 추가해, </a:t>
            </a:r>
            <a:r>
              <a:rPr sz="1800" b="1" i="0">
                <a:solidFill>
                  <a:srgbClr val="CADCFC"/>
                </a:solidFill>
                <a:latin typeface="Calibri"/>
                <a:ea typeface="Malgun Gothic"/>
              </a:rPr>
              <a:t>명시 호출한 프롬프트만</a:t>
            </a: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 메타프롬프팅으로 정제하고, </a:t>
            </a:r>
            <a:r>
              <a:rPr sz="1800" b="1" i="0">
                <a:solidFill>
                  <a:srgbClr val="CADCFC"/>
                </a:solidFill>
                <a:latin typeface="Calibri"/>
                <a:ea typeface="Malgun Gothic"/>
              </a:rPr>
              <a:t>미리보기·승인 게이트</a:t>
            </a:r>
            <a:r>
              <a:rPr sz="1800" b="1" i="0">
                <a:solidFill>
                  <a:srgbClr val="FFFFFF"/>
                </a:solidFill>
                <a:latin typeface="Calibri"/>
                <a:ea typeface="Malgun Gothic"/>
              </a:rPr>
              <a:t>를 거쳐 네이티브 Copilot에 전달하는 시스템.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456432" cy="26974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35204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51960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품질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54880"/>
            <a:ext cx="28895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651개 검증 템플릿 기반 RAG로 프롬프트를 구조화·구체화해 재작성.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246120"/>
            <a:ext cx="3456432" cy="26974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4296" y="35204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251960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사용자 통제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4754880"/>
            <a:ext cx="28895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정제본을 눈으로 보고 5가지 선택지(전송·수정·재정제·원본·취소)로 승인.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5" y="3246120"/>
            <a:ext cx="3456432" cy="26974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3" y="3520440"/>
            <a:ext cx="566928" cy="56692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3520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4251960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1F2B"/>
                </a:solidFill>
                <a:latin typeface="Cambria"/>
                <a:ea typeface="Malgun Gothic"/>
              </a:rPr>
              <a:t>안전한 개입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3" y="4754880"/>
            <a:ext cx="28895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17E"/>
                </a:solidFill>
                <a:latin typeface="Calibri"/>
                <a:ea typeface="Malgun Gothic"/>
              </a:rPr>
              <a:t>fail-open — 서버 장애·예외에도 원본을 그대로 흘려보내 흐름을 막지 않음.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03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전체 구조 — FE 확장 ↔ BE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246120" cy="4206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4002B"/>
                </a:solidFill>
                <a:latin typeface="Calibri"/>
                <a:ea typeface="Malgun Gothic"/>
              </a:rPr>
              <a:t>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81F2B"/>
                </a:solidFill>
                <a:latin typeface="Cambria"/>
                <a:ea typeface="Malgun Gothic"/>
              </a:rPr>
              <a:t>VS Code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2788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24912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@refine 참가자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17E"/>
                </a:solidFill>
                <a:latin typeface="Calibri"/>
                <a:ea typeface="Malgun Gothic"/>
              </a:rPr>
              <a:t>정제 미리보기 + 5선택지 승인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2788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776472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사이드바 (Webview)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17E"/>
                </a:solidFill>
                <a:latin typeface="Calibri"/>
                <a:ea typeface="Malgun Gothic"/>
              </a:rPr>
              <a:t>원본→정제본 카드 · 검색 · diff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09160"/>
            <a:ext cx="278892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28032"/>
            <a:ext cx="2514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로그 (JSONL)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17E"/>
                </a:solidFill>
                <a:latin typeface="Calibri"/>
                <a:ea typeface="Malgun Gothic"/>
              </a:rPr>
              <a:t>observe-YYYY-MM-DD.log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4002B"/>
                </a:solidFill>
                <a:latin typeface="Calibri"/>
                <a:ea typeface="Malgun Gothic"/>
              </a:rPr>
              <a:t>R-EX-01 ~ 11  ·  순수 JS · 의존성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3566160"/>
            <a:ext cx="566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406908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6717E"/>
                </a:solidFill>
                <a:latin typeface="Calibri"/>
                <a:ea typeface="Malgun Gothic"/>
              </a:rPr>
              <a:t>HTTP
POST /refine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6976872" cy="420624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87451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4002B"/>
                </a:solidFill>
                <a:latin typeface="Calibri"/>
                <a:ea typeface="Malgun Gothic"/>
              </a:rPr>
              <a:t>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  <a:ea typeface="Malgun Gothic"/>
              </a:rPr>
              <a:t>Endpoint (FastAPI) · 메타프롬프팅 파이프라인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8" y="2697480"/>
            <a:ext cx="1517904" cy="960120"/>
          </a:xfrm>
          <a:prstGeom prst="roundRect">
            <a:avLst>
              <a:gd name="adj" fmla="val 8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788920"/>
            <a:ext cx="1517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1. 정제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  <a:ea typeface="Malgun Gothic"/>
              </a:rPr>
              <a:t>/rewrite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834640"/>
            <a:ext cx="182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1384" y="2697480"/>
            <a:ext cx="1517904" cy="960120"/>
          </a:xfrm>
          <a:prstGeom prst="roundRect">
            <a:avLst>
              <a:gd name="adj" fmla="val 8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2788920"/>
            <a:ext cx="1517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2. 검색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  <a:ea typeface="Malgun Gothic"/>
              </a:rPr>
              <a:t>/search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834640"/>
            <a:ext cx="182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97480"/>
            <a:ext cx="1517904" cy="960120"/>
          </a:xfrm>
          <a:prstGeom prst="roundRect">
            <a:avLst>
              <a:gd name="adj" fmla="val 8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788920"/>
            <a:ext cx="1517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3. 리랭킹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  <a:ea typeface="Malgun Gothic"/>
              </a:rPr>
              <a:t>/rerank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2834640"/>
            <a:ext cx="182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4936" y="2697480"/>
            <a:ext cx="1517904" cy="960120"/>
          </a:xfrm>
          <a:prstGeom prst="roundRect">
            <a:avLst>
              <a:gd name="adj" fmla="val 8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2788920"/>
            <a:ext cx="15179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4. 생성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  <a:ea typeface="Malgun Gothic"/>
              </a:rPr>
              <a:t>/generate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8" y="3950208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114800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4002B"/>
                </a:solidFill>
                <a:latin typeface="Calibri"/>
                <a:ea typeface="Malgun Gothic"/>
              </a:rPr>
              <a:t>AI Infra — vLLM 서빙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LLM  Qwen3.6-35B (AWQ)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Embedding  Qwen3-Embed-8B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Reranker  Qwen3-Rerank-4B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950208"/>
            <a:ext cx="3291840" cy="178308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11480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4002B"/>
                </a:solidFill>
                <a:latin typeface="Calibri"/>
                <a:ea typeface="Malgun Gothic"/>
              </a:rPr>
              <a:t>Vector DB — Chroma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651개 고품질 프롬프트 템플릿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4096차원 임베딩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· Top-20 → Reranker → Top-3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03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@refine 한 줄의 여정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739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03704"/>
            <a:ext cx="22860" cy="420624"/>
          </a:xfrm>
          <a:prstGeom prst="rect">
            <a:avLst/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명시 호출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사용자가  @refine 헝가리의 수도가 어디야?  입력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151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044952"/>
            <a:ext cx="22860" cy="420624"/>
          </a:xfrm>
          <a:prstGeom prst="rect">
            <a:avLst/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6060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정제 요청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refiner.js → BE  POST /refine  {"prompt": ...}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465576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22860" cy="420624"/>
          </a:xfrm>
          <a:prstGeom prst="rect">
            <a:avLst/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44728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미리보기 + 승인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정제본 미리보기 + 가로 액션 바(아이콘 5개)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306824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727448"/>
            <a:ext cx="22860" cy="420624"/>
          </a:xfrm>
          <a:prstGeom prst="rect">
            <a:avLst/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전송 위임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승인 시 workbench.action.chat.open 으로 네이티브 Copilot 제출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148072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389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29784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81F2B"/>
                </a:solidFill>
                <a:latin typeface="Calibri"/>
                <a:ea typeface="Malgun Gothic"/>
              </a:rPr>
              <a:t>기록 · 시각화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allow 1건마다 JSONL append → 사이드바 카드 갱신(fs.watch)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1691640"/>
            <a:ext cx="4462272" cy="4251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190195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81F2B"/>
                </a:solidFill>
                <a:latin typeface="Cambria"/>
                <a:ea typeface="Malgun Gothic"/>
              </a:rPr>
              <a:t>승인 — 5가지 선택지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395728"/>
            <a:ext cx="3931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245973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0020"/>
                </a:solidFill>
                <a:latin typeface="Calibri"/>
                <a:ea typeface="Malgun Gothic"/>
              </a:rPr>
              <a:t>✓ 전송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459736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</a:rPr>
              <a:t>정제본 자동 전송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2459736"/>
            <a:ext cx="457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9E57"/>
                </a:solidFill>
                <a:latin typeface="Calibri"/>
                <a:ea typeface="Malgun Gothic"/>
              </a:rPr>
              <a:t>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090672"/>
            <a:ext cx="3931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3154679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0020"/>
                </a:solidFill>
                <a:latin typeface="Calibri"/>
                <a:ea typeface="Malgun Gothic"/>
              </a:rPr>
              <a:t>✎ 수정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154679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</a:rPr>
              <a:t>입력창에 채워 편집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154679"/>
            <a:ext cx="457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785615"/>
            <a:ext cx="3931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384962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0020"/>
                </a:solidFill>
                <a:latin typeface="Calibri"/>
                <a:ea typeface="Malgun Gothic"/>
              </a:rPr>
              <a:t>↻ 다시 정제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849624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</a:rPr>
              <a:t>원본으로 재정제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3849624"/>
            <a:ext cx="457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4480559"/>
            <a:ext cx="3931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454456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0020"/>
                </a:solidFill>
                <a:latin typeface="Calibri"/>
                <a:ea typeface="Malgun Gothic"/>
              </a:rPr>
              <a:t>→ 원본 전송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544568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</a:rPr>
              <a:t>정제 없이 원본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4544568"/>
            <a:ext cx="457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5175503"/>
            <a:ext cx="3931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6368" y="5239512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0020"/>
                </a:solidFill>
                <a:latin typeface="Calibri"/>
                <a:ea typeface="Malgun Gothic"/>
              </a:rPr>
              <a:t>✕ 취소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239512"/>
            <a:ext cx="17373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</a:rPr>
              <a:t>@refine 원본 입력창 복원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5239512"/>
            <a:ext cx="457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A4AE"/>
                </a:solidFill>
                <a:latin typeface="Calibri"/>
                <a:ea typeface="Malgun Gothic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04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정제는 어떻게 일어나는가 — 4단계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15184" cy="3200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19456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854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81F2B"/>
                </a:solidFill>
                <a:latin typeface="Cambria"/>
                <a:ea typeface="Malgun Gothic"/>
              </a:rPr>
              <a:t>LLM 정제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40156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4015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</a:rPr>
              <a:t>/rewrite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86200"/>
            <a:ext cx="21122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6717E"/>
                </a:solidFill>
                <a:latin typeface="Calibri"/>
                <a:ea typeface="Malgun Gothic"/>
              </a:rPr>
              <a:t>모호한 입력을 명료한 영어 프롬프트로 재작성. 의도 보존(translated_input · rewritten_prompt).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5" y="324612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920240"/>
            <a:ext cx="2615184" cy="3200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8" y="219456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1854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907792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81F2B"/>
                </a:solidFill>
                <a:latin typeface="Cambria"/>
                <a:ea typeface="Malgun Gothic"/>
              </a:rPr>
              <a:t>벡터 검색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8" y="340156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34015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</a:rPr>
              <a:t>/search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886200"/>
            <a:ext cx="21122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6717E"/>
                </a:solidFill>
                <a:latin typeface="Calibri"/>
                <a:ea typeface="Malgun Gothic"/>
              </a:rPr>
              <a:t>재작성 프롬프트를 임베딩해 Chroma에서 코사인 유사도 Top-20 템플릿 검색.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24612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920240"/>
            <a:ext cx="2615184" cy="3200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219456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854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907792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81F2B"/>
                </a:solidFill>
                <a:latin typeface="Cambria"/>
                <a:ea typeface="Malgun Gothic"/>
              </a:rPr>
              <a:t>리랭킹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340156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4015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</a:rPr>
              <a:t>/rerank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886200"/>
            <a:ext cx="21122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6717E"/>
                </a:solidFill>
                <a:latin typeface="Calibri"/>
                <a:ea typeface="Malgun Gothic"/>
              </a:rPr>
              <a:t>Reranker 모델로 의미적 적합성 재점수화 → 최종 Top-3 템플릿 선별.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324612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4002B"/>
                </a:solidFill>
                <a:latin typeface="Calibri"/>
                <a:ea typeface="Malgun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1920240"/>
            <a:ext cx="2615184" cy="3200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219456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1854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Malgun Gothi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907792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81F2B"/>
                </a:solidFill>
                <a:latin typeface="Cambria"/>
                <a:ea typeface="Malgun Gothic"/>
              </a:rPr>
              <a:t>LLM 최종 생성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40156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4015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</a:rPr>
              <a:t>/generate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886200"/>
            <a:ext cx="2112263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6717E"/>
                </a:solidFill>
                <a:latin typeface="Calibri"/>
                <a:ea typeface="Malgun Gothic"/>
              </a:rPr>
              <a:t>Top-3 중 최적 템플릿 선택 + 원본 의도로 최종 프롬프트 합성(한국어).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4924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 i="0">
                <a:solidFill>
                  <a:srgbClr val="CADCFC"/>
                </a:solidFill>
                <a:latin typeface="Calibri"/>
                <a:ea typeface="Malgun Gothic"/>
              </a:rPr>
              <a:t>전체 파이프라인 = </a:t>
            </a:r>
            <a:r>
              <a:rPr sz="1350" b="1" i="0">
                <a:solidFill>
                  <a:srgbClr val="E4002B"/>
                </a:solidFill>
                <a:latin typeface="Calibri"/>
                <a:ea typeface="Malgun Gothic"/>
              </a:rPr>
              <a:t>POST /refine</a:t>
            </a:r>
            <a:r>
              <a:rPr sz="1350" b="0" i="0">
                <a:solidFill>
                  <a:srgbClr val="CADCFC"/>
                </a:solidFill>
                <a:latin typeface="Calibri"/>
                <a:ea typeface="Malgun Gothic"/>
              </a:rPr>
              <a:t>   ·   4개 단계는 각각 단독 엔드포인트로도 호출·디버깅 가능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05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81F2B"/>
                </a:solidFill>
                <a:latin typeface="Cambria"/>
                <a:ea typeface="Malgun Gothic"/>
              </a:rPr>
              <a:t>① VS Code Extension (FE) — swbc-prompt-refiner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@refine 참가자 + 5선택지 승인 게이트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정제 미리보기 → 전송·수정·다시정제·원본·취소 (codicon 액션 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fail-open + 명시 호출만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장애·예외에도 원본 전송 · @refine 현재 요청만 정제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정제 내역 로그 + 사이드바 시각화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allow 1건마다 JSONL append → fs.watch → 원본→정제본 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7375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4002B"/>
                </a:solidFill>
                <a:latin typeface="Calibri"/>
                <a:ea typeface="Malgun Gothic"/>
              </a:rPr>
              <a:t>Chat Participant API · WebviewView · Node http/https · JSONL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4005072" cy="41605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요구사항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Malgun Gothic"/>
              </a:rPr>
              <a:t>R-EX-01 ~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7180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런타임 의존성 (순수 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25 / 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단위 테스트 통과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9204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v0.7.0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단일 .vsix (~23KB · 13파일)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05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81F2B"/>
                </a:solidFill>
                <a:latin typeface="Cambria"/>
                <a:ea typeface="Malgun Gothic"/>
              </a:rPr>
              <a:t>② Endpoint — FastAPI 정제 API 서버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6개 엔드포인트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/health · /refine · /rewrite · /search · /rerank · /generate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/refine = 전체 파이프라인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나머지 4개는 각 단계 단독 실행·디버깅용 · /docs Swagger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웹 시각화 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파이프라인 단계별 변화 + 벡터 DB 2D 지도(t-SNE·KMeans)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7375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4002B"/>
                </a:solidFill>
                <a:latin typeface="Calibri"/>
                <a:ea typeface="Malgun Gothic"/>
              </a:rPr>
              <a:t>FastAPI · uvicorn · requests · 자족 모듈(retrieval.py + artifacts)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4005072" cy="41605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요구사항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Malgun Gothic"/>
              </a:rPr>
              <a:t>R-EP-01 ~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7180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REST 엔드포인트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.env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주소·모델만 주입 (하드코딩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9204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4단계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정제 → 검색 → 리랭킹 →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05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81F2B"/>
                </a:solidFill>
                <a:latin typeface="Cambria"/>
                <a:ea typeface="Malgun Gothic"/>
              </a:rPr>
              <a:t>③ Vector DB &amp; Reranker — 검색·선별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Chroma 벡터 DB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production_task_prompt_templates 컬렉션 · 코사인 유사도 검색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템플릿 출처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GitHub 프롬프트 + selected_prompts.csv 정규화 적재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2단계 선별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임베딩 Top-20 → Reranker 의미 적합성 → Top-3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7375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4002B"/>
                </a:solidFill>
                <a:latin typeface="Calibri"/>
                <a:ea typeface="Malgun Gothic"/>
              </a:rPr>
              <a:t>ChromaDB · Qwen3-Embedding-8B · Qwen3-Reranker-4B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4005072" cy="41605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요구사항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Malgun Gothic"/>
              </a:rPr>
              <a:t>R-DB-01~02 · R-RK-01~03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7180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651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고품질 프롬프트 템플릿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4096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임베딩 차원 (Qwen3-8B)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9204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20 →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검색 → 리랭킹 선별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05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모듈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81F2B"/>
                </a:solidFill>
                <a:latin typeface="Cambria"/>
                <a:ea typeface="Malgun Gothic"/>
              </a:rPr>
              <a:t>④ AI Infra — vLLM 모델 서빙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LLM (생성/정제)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cyankiwi/Qwen3.6-35B-A3B-AWQ-4bit · AWQ 4-bit MoE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Embedding / Reranker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Qwen3-Embedding-8B · Qwen3-Reranker-4B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672084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6263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81F2B"/>
                </a:solidFill>
                <a:latin typeface="Calibri"/>
                <a:ea typeface="Malgun Gothic"/>
              </a:rPr>
              <a:t>배포 유연성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로컬 vLLM / RunPod 모두 지원 · .env로 주소·모델만 교체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7375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4002B"/>
                </a:solidFill>
                <a:latin typeface="Calibri"/>
                <a:ea typeface="Malgun Gothic"/>
              </a:rPr>
              <a:t>vLLM 0.19.1 · OpenAI 호환 엔드포인트 · GPU별 서빙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4005072" cy="41605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요구사항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Malgun Gothic"/>
              </a:rPr>
              <a:t>R-IN-01~02 · R-RW · R-FC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7180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서빙 모델 (LLM·임베딩·리랭커)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4-bit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AWQ 양자화 (메모리 절감)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92040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vLLM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고속 추론 서빙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06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레이어별 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9584" cy="4251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9584" cy="841248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723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  <a:ea typeface="Malgun Gothic"/>
              </a:rPr>
              <a:t>VS Code 확장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852927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6148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VS Code Extension API (^1.90)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291839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20040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Chat Participant API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730752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39312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Webview View API + CSP/nonce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169664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078224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Node 내장 http / https / fs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60857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517136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JSONL 로그 (append-only)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047488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95604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@vscode/vsce (npx 패키징)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5486400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39496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런타임 의존성 0 — 순수 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1691640"/>
            <a:ext cx="3529584" cy="4251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98264" y="1691640"/>
            <a:ext cx="3529584" cy="841248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1783080"/>
            <a:ext cx="30723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  <a:ea typeface="Malgun Gothic"/>
              </a:rPr>
              <a:t>API · 파이프라인</a:t>
            </a:r>
          </a:p>
        </p:txBody>
      </p:sp>
      <p:sp>
        <p:nvSpPr>
          <p:cNvPr id="25" name="Oval 24"/>
          <p:cNvSpPr/>
          <p:nvPr/>
        </p:nvSpPr>
        <p:spPr>
          <a:xfrm>
            <a:off x="4690872" y="2852927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76148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FastAPI 0.138 · uvicorn 0.49</a:t>
            </a:r>
          </a:p>
        </p:txBody>
      </p:sp>
      <p:sp>
        <p:nvSpPr>
          <p:cNvPr id="27" name="Oval 26"/>
          <p:cNvSpPr/>
          <p:nvPr/>
        </p:nvSpPr>
        <p:spPr>
          <a:xfrm>
            <a:off x="4690872" y="3291839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20040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requests 2.34</a:t>
            </a:r>
          </a:p>
        </p:txBody>
      </p:sp>
      <p:sp>
        <p:nvSpPr>
          <p:cNvPr id="29" name="Oval 28"/>
          <p:cNvSpPr/>
          <p:nvPr/>
        </p:nvSpPr>
        <p:spPr>
          <a:xfrm>
            <a:off x="4690872" y="3730752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639312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ChromaDB 1.5 (벡터 검색)</a:t>
            </a:r>
          </a:p>
        </p:txBody>
      </p:sp>
      <p:sp>
        <p:nvSpPr>
          <p:cNvPr id="31" name="Oval 30"/>
          <p:cNvSpPr/>
          <p:nvPr/>
        </p:nvSpPr>
        <p:spPr>
          <a:xfrm>
            <a:off x="4690872" y="4169664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078224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OpenAI SDK 2.44 (호환 호출)</a:t>
            </a:r>
          </a:p>
        </p:txBody>
      </p:sp>
      <p:sp>
        <p:nvSpPr>
          <p:cNvPr id="33" name="Oval 32"/>
          <p:cNvSpPr/>
          <p:nvPr/>
        </p:nvSpPr>
        <p:spPr>
          <a:xfrm>
            <a:off x="4690872" y="460857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4517136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scikit-learn (t-SNE · KMeans)</a:t>
            </a:r>
          </a:p>
        </p:txBody>
      </p:sp>
      <p:sp>
        <p:nvSpPr>
          <p:cNvPr id="35" name="Oval 34"/>
          <p:cNvSpPr/>
          <p:nvPr/>
        </p:nvSpPr>
        <p:spPr>
          <a:xfrm>
            <a:off x="4690872" y="5047488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495604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정적 웹 UI (HTML·JS·CSS)</a:t>
            </a:r>
          </a:p>
        </p:txBody>
      </p:sp>
      <p:sp>
        <p:nvSpPr>
          <p:cNvPr id="37" name="Oval 36"/>
          <p:cNvSpPr/>
          <p:nvPr/>
        </p:nvSpPr>
        <p:spPr>
          <a:xfrm>
            <a:off x="4690872" y="5486400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539496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버전 핀 고정 (.venv 기준)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7" y="1691640"/>
            <a:ext cx="3529584" cy="42519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7" y="1691640"/>
            <a:ext cx="3529584" cy="841248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7" y="1783080"/>
            <a:ext cx="30723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4002B"/>
                </a:solidFill>
                <a:latin typeface="Calibri"/>
                <a:ea typeface="Malgun Gothic"/>
              </a:rPr>
              <a:t>AI / INFRA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  <a:ea typeface="Malgun Gothic"/>
              </a:rPr>
              <a:t>모델 서빙</a:t>
            </a:r>
          </a:p>
        </p:txBody>
      </p:sp>
      <p:sp>
        <p:nvSpPr>
          <p:cNvPr id="42" name="Oval 41"/>
          <p:cNvSpPr/>
          <p:nvPr/>
        </p:nvSpPr>
        <p:spPr>
          <a:xfrm>
            <a:off x="8449055" y="2852927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3" y="276148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vLLM 0.19.1</a:t>
            </a:r>
          </a:p>
        </p:txBody>
      </p:sp>
      <p:sp>
        <p:nvSpPr>
          <p:cNvPr id="44" name="Oval 43"/>
          <p:cNvSpPr/>
          <p:nvPr/>
        </p:nvSpPr>
        <p:spPr>
          <a:xfrm>
            <a:off x="8449055" y="3291839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3" y="320040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Qwen3.6-35B-A3B (LLM, AWQ)</a:t>
            </a:r>
          </a:p>
        </p:txBody>
      </p:sp>
      <p:sp>
        <p:nvSpPr>
          <p:cNvPr id="46" name="Oval 45"/>
          <p:cNvSpPr/>
          <p:nvPr/>
        </p:nvSpPr>
        <p:spPr>
          <a:xfrm>
            <a:off x="8449055" y="3730752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0223" y="3639312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Qwen3-Embedding-8B (4096d)</a:t>
            </a:r>
          </a:p>
        </p:txBody>
      </p:sp>
      <p:sp>
        <p:nvSpPr>
          <p:cNvPr id="48" name="Oval 47"/>
          <p:cNvSpPr/>
          <p:nvPr/>
        </p:nvSpPr>
        <p:spPr>
          <a:xfrm>
            <a:off x="8449055" y="4169664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0223" y="4078224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Qwen3-Reranker-4B</a:t>
            </a:r>
          </a:p>
        </p:txBody>
      </p:sp>
      <p:sp>
        <p:nvSpPr>
          <p:cNvPr id="50" name="Oval 49"/>
          <p:cNvSpPr/>
          <p:nvPr/>
        </p:nvSpPr>
        <p:spPr>
          <a:xfrm>
            <a:off x="8449055" y="460857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50223" y="4517136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OpenAI 호환 /v1/* API</a:t>
            </a:r>
          </a:p>
        </p:txBody>
      </p:sp>
      <p:sp>
        <p:nvSpPr>
          <p:cNvPr id="52" name="Oval 51"/>
          <p:cNvSpPr/>
          <p:nvPr/>
        </p:nvSpPr>
        <p:spPr>
          <a:xfrm>
            <a:off x="8449055" y="5047488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0223" y="4956048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AWQ 4-bit 양자화</a:t>
            </a:r>
          </a:p>
        </p:txBody>
      </p:sp>
      <p:sp>
        <p:nvSpPr>
          <p:cNvPr id="54" name="Oval 53"/>
          <p:cNvSpPr/>
          <p:nvPr/>
        </p:nvSpPr>
        <p:spPr>
          <a:xfrm>
            <a:off x="8449055" y="5486400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0223" y="5394960"/>
            <a:ext cx="28163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F2B"/>
                </a:solidFill>
                <a:latin typeface="Calibri"/>
                <a:ea typeface="Malgun Gothic"/>
              </a:rPr>
              <a:t>로컬 GPU / RunPod 배포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06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흔들리지 않는 설계 불변식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0574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fail-open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0008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핸들러·정제·로깅 전부 try/catch. 어떤 에러에도 원본을 흘려보내 Copilot 흐름을 막지 않음.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83080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929384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명시 호출만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50008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@refine로 부른 현재 요청만 정제. 그 외 트래픽은 일절 건드리지 않음(무수정).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82696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3557015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5701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29000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승인 게이트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49624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정제본은 사용자가 눈으로 보고 고른 뒤에만 전송 — 자동 치환 강요 없음.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282696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557015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5701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429000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의존성 0 (FE)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849624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외부 패키지 미사용 → 공급망 위험 없음 · 수십 KB .vsix · 단순한 리뷰.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82312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5056631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0566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928616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JSONL 스키마 동결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49240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사이드바가 읽는 데이터 계약. {ts·channel·model·before·after} 고정.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782312"/>
            <a:ext cx="5449824" cy="12984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5056631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05663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928616"/>
            <a:ext cx="4352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81F2B"/>
                </a:solidFill>
                <a:latin typeface="Cambria"/>
                <a:ea typeface="Malgun Gothic"/>
              </a:rPr>
              <a:t>사용자 데이터 보존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5349240"/>
            <a:ext cx="435254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정제 관측 로그 observe*.log는 삭제·덮어쓰지 않음.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07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요구사항 구현 현황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2" cy="3639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34640"/>
                <a:gridCol w="2377440"/>
                <a:gridCol w="1188720"/>
                <a:gridCol w="450799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모듈</a:t>
                      </a:r>
                    </a:p>
                  </a:txBody>
                  <a:tcPr marL="109728" marR="73152" marT="27432" marB="27432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요구사항</a:t>
                      </a:r>
                    </a:p>
                  </a:txBody>
                  <a:tcPr marL="109728" marR="73152" marT="27432" marB="27432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상태</a:t>
                      </a:r>
                    </a:p>
                  </a:txBody>
                  <a:tcPr marL="109728" marR="73152" marT="27432" marB="27432" anchor="ctr"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algun Gothic"/>
                        </a:rPr>
                        <a:t>근거</a:t>
                      </a:r>
                    </a:p>
                  </a:txBody>
                  <a:tcPr marL="109728" marR="73152" marT="27432" marB="27432" anchor="ctr">
                    <a:solidFill>
                      <a:srgbClr val="0F162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VS Code Extension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R-EX-01~11 (11)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25 테스트 통과 (자동 10 · 사람검증 R-EX-08)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Endpoint (API)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R-EP-01~02 (2)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FastAPI /refine 외 5개 엔드포인트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AI Infra (vLLM)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R-IN-01~02 (2)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LLM·임베딩·리랭커 3모델 서빙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프롬프트 재작성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R-RW-01~05 (5)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pipeline.rewrite (메타프롬프트 주입)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Vector DB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R-DB-01~02 (2)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Chroma 651 템플릿 · Top-20 검색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Reranker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R-RK-01~03 (3)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Qwen3-Reranker → Top-3 선별</a:t>
                      </a:r>
                    </a:p>
                  </a:txBody>
                  <a:tcPr marL="109728" marR="73152" marT="27432" marB="27432" anchor="ctr">
                    <a:solidFill>
                      <a:srgbClr val="F3F5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81F2B"/>
                          </a:solidFill>
                          <a:latin typeface="Calibri"/>
                          <a:ea typeface="Malgun Gothic"/>
                        </a:rPr>
                        <a:t>최종 프롬프트 생성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A80020"/>
                          </a:solidFill>
                          <a:latin typeface="Calibri"/>
                          <a:ea typeface="Malgun Gothic"/>
                        </a:rPr>
                        <a:t>R-FC-01~05 (5)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9E57"/>
                          </a:solidFill>
                          <a:latin typeface="Calibri"/>
                          <a:ea typeface="Malgun Gothic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66717E"/>
                          </a:solidFill>
                          <a:latin typeface="Calibri"/>
                          <a:ea typeface="Malgun Gothic"/>
                        </a:rPr>
                        <a:t>pipeline.generate (최적 템플릿 합성)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908792" cy="54864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ADCFC"/>
                </a:solidFill>
                <a:latin typeface="Calibri"/>
                <a:ea typeface="Malgun Gothic"/>
              </a:rPr>
              <a:t>합계  </a:t>
            </a: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7개 모듈 · 30개 요구사항 전부 구현</a:t>
            </a:r>
            <a:r>
              <a:rPr sz="1150" b="0" i="0">
                <a:solidFill>
                  <a:srgbClr val="9AA4AE"/>
                </a:solidFill>
                <a:latin typeface="Calibri"/>
                <a:ea typeface="Malgun Gothic"/>
              </a:rPr>
              <a:t>    (자동 검증 불가한 시각 UI는 사람·시연 검증으로 명시)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07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테스트 &amp; 신뢰성 — 25 / 25 통과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200400" cy="416052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743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Cambria"/>
                <a:ea typeface="Malgun Gothic"/>
              </a:rPr>
              <a:t>25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4002B"/>
                </a:solidFill>
                <a:latin typeface="Calibri"/>
                <a:ea typeface="Malgun Gothic"/>
              </a:rPr>
              <a:t>/ 25 통과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fail 0 · skipped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duration ≈ 185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1783080"/>
            <a:ext cx="7507224" cy="9692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61104" y="2093976"/>
            <a:ext cx="347472" cy="34747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2093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1F2B"/>
                </a:solidFill>
                <a:latin typeface="Calibri"/>
                <a:ea typeface="Malgun Gothic"/>
              </a:rPr>
              <a:t>Node 내장 러너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node:test + node:assert로 실행 · 추가 의존성 0. JUnit XML 리포트로 요구사항↔테스트↔결과를 매칭.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843784"/>
            <a:ext cx="7507224" cy="9692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61104" y="3154679"/>
            <a:ext cx="347472" cy="34747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315467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80944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1F2B"/>
                </a:solidFill>
                <a:latin typeface="Calibri"/>
                <a:ea typeface="Malgun Gothic"/>
              </a:rPr>
              <a:t>커버리지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5개 액션 · 로그 append/read · fail-open(500 · 연결실패 · text-500 · 예외)까지 결정론적으로 검증.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3904487"/>
            <a:ext cx="7507224" cy="9692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61104" y="4215383"/>
            <a:ext cx="347472" cy="34747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421538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041648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1F2B"/>
                </a:solidFill>
                <a:latin typeface="Calibri"/>
                <a:ea typeface="Malgun Gothic"/>
              </a:rPr>
              <a:t>결정론적 목(mock)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vscode-stub로 VS Code API 후킹 + 로컬 http 서버로 서버 응답 시뮬레이션 — 네트워크 비의존.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4965192"/>
            <a:ext cx="7507224" cy="9692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61104" y="5276088"/>
            <a:ext cx="347472" cy="347472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5276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102352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1F2B"/>
                </a:solidFill>
                <a:latin typeface="Calibri"/>
                <a:ea typeface="Malgun Gothic"/>
              </a:rPr>
              <a:t>[R-EX-NN] 네이밍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Calibri"/>
                <a:ea typeface="Malgun Gothic"/>
              </a:rPr>
              <a:t>모든 테스트 이름에 요구사항 ID 부여. R-EX-08(액티비티 바)은 시각 UI라 사람/시연 검증으로 구분.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07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DevOps &amp; 실행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02536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842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901952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라이브러리 목록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package.json · requirements.txt (모듈별)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755648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9672" y="2002536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842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1901952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버전 고정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백엔드·AI·확장 모두 핀 고정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79776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026664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00837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26080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빌드 · 설치 문서화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RUN.md · build.sh (.vsix 패키징)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779776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2" y="3026664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00837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926080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실행 · 기동 문서화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F5 / uvicorn / serve_*.sh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03904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050791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0325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950208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환경변수 문서화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.env.example (REFINE_API_URL · LLM/EMBED/RERANK)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3803904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4050791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0325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736" y="3950208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외부 자원 안내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vLLM·RunPod 주소 · Chroma artifacts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28032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7824" y="5074920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056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4974336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빌드 성공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단일 .vsix 생성 (~23KB · 13파일)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828032"/>
            <a:ext cx="5449824" cy="84124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9672" y="5074920"/>
            <a:ext cx="365760" cy="36576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50566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algun Gothic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1736" y="4974336"/>
            <a:ext cx="448970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</a:rPr>
              <a:t>애플리케이션 기동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6717E"/>
                </a:solidFill>
                <a:latin typeface="Calibri"/>
                <a:ea typeface="Malgun Gothic"/>
              </a:rPr>
              <a:t>F5 Extension Host / uvicorn 서버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943600"/>
            <a:ext cx="10908792" cy="45720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  <a:ea typeface="Malgun Gothic"/>
              </a:rPr>
              <a:t>결과파일은 program_extension · program_backend · program_AI로 분리 — src / tests / test-results 정합 구성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08</a:t>
            </a:r>
            <a:r>
              <a:rPr sz="1300" b="1" i="0">
                <a:solidFill>
                  <a:srgbClr val="66717E"/>
                </a:solidFill>
                <a:latin typeface="Calibri"/>
                <a:ea typeface="Malgun Gothic"/>
              </a:rPr>
              <a:t>  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81F2B"/>
                </a:solidFill>
                <a:latin typeface="Cambria"/>
                <a:ea typeface="Malgun Gothic"/>
              </a:rPr>
              <a:t>Git 협업 — 모듈별 브랜치 +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2615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0020"/>
                </a:solidFill>
                <a:latin typeface="Cambria"/>
                <a:ea typeface="Malgun Gothic"/>
              </a:rPr>
              <a:t>51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커밋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17373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9856" y="1847088"/>
            <a:ext cx="2615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0020"/>
                </a:solidFill>
                <a:latin typeface="Cambria"/>
                <a:ea typeface="Malgun Gothic"/>
              </a:rPr>
              <a:t>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브랜치(모듈별)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47088"/>
            <a:ext cx="2615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0020"/>
                </a:solidFill>
                <a:latin typeface="Cambria"/>
                <a:ea typeface="Malgun Gothic"/>
              </a:rPr>
              <a:t>10+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PR 머지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173736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1847088"/>
            <a:ext cx="261518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0020"/>
                </a:solidFill>
                <a:latin typeface="Cambria"/>
                <a:ea typeface="Malgun Gothic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기여자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6400800" cy="28346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81F2B"/>
                </a:solidFill>
                <a:latin typeface="Cambria"/>
                <a:ea typeface="Malgun Gothic"/>
              </a:rPr>
              <a:t>브랜치 = 모듈  ·  PR 기반 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extension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endpoint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rag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LLM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infra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A80020"/>
                </a:solidFill>
                <a:latin typeface="Calibri"/>
                <a:ea typeface="Malgun Gothic"/>
              </a:rPr>
              <a:t>web</a:t>
            </a:r>
            <a:r>
              <a:rPr sz="1200" b="0" i="0">
                <a:solidFill>
                  <a:srgbClr val="9AA4AE"/>
                </a:solidFill>
                <a:latin typeface="Calibri"/>
                <a:ea typeface="Malgun Gothic"/>
              </a:rPr>
              <a:t>  ·  </a:t>
            </a:r>
            <a:r>
              <a:rPr sz="1200" b="1" i="0">
                <a:solidFill>
                  <a:srgbClr val="181F2B"/>
                </a:solidFill>
                <a:latin typeface="Calibri"/>
                <a:ea typeface="Malgun Gothic"/>
              </a:rPr>
              <a:t>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· 모듈별 feature 브랜치에서 작업 후 Pull Request로 main에 통합 (#5 ~ #14).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· 마감 직전 몰림 없이 2026-06-23 ~ 06-29 분산 작업.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17E"/>
                </a:solidFill>
                <a:latin typeface="Calibri"/>
                <a:ea typeface="Malgun Gothic"/>
              </a:rPr>
              <a:t>· 결과파일에 Git 히스토리 포함 — 팀 단위 협업 지표 추적 가능.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108960"/>
            <a:ext cx="4370832" cy="2834640"/>
          </a:xfrm>
          <a:prstGeom prst="roundRect">
            <a:avLst>
              <a:gd name="adj" fmla="val 8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291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4002B"/>
                </a:solidFill>
                <a:latin typeface="Calibri"/>
                <a:ea typeface="Malgun Gothic"/>
              </a:rPr>
              <a:t>일자별 커밋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5447538"/>
            <a:ext cx="713232" cy="84582"/>
          </a:xfrm>
          <a:prstGeom prst="roundRect">
            <a:avLst>
              <a:gd name="adj" fmla="val 12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517321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586983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  <a:ea typeface="Malgun Gothic"/>
              </a:rPr>
              <a:t>06.23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3064" y="4347972"/>
            <a:ext cx="713232" cy="1184148"/>
          </a:xfrm>
          <a:prstGeom prst="roundRect">
            <a:avLst>
              <a:gd name="adj" fmla="val 12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4073652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5586983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  <a:ea typeface="Malgun Gothic"/>
              </a:rPr>
              <a:t>06.25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82328" y="4178808"/>
            <a:ext cx="713232" cy="1353312"/>
          </a:xfrm>
          <a:prstGeom prst="roundRect">
            <a:avLst>
              <a:gd name="adj" fmla="val 12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3904488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5586983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  <a:ea typeface="Malgun Gothic"/>
              </a:rPr>
              <a:t>06.26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51592" y="3840479"/>
            <a:ext cx="713232" cy="1691640"/>
          </a:xfrm>
          <a:prstGeom prst="roundRect">
            <a:avLst>
              <a:gd name="adj" fmla="val 12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3566159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Malgun Gothic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0152" y="5586983"/>
            <a:ext cx="8961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Calibri"/>
                <a:ea typeface="Malgun Gothic"/>
              </a:rPr>
              <a:t>06.29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Copilot Meta-Prompting  ·  SW Bootcamp 13기 C반 4팀 결과보고서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AE"/>
                </a:solidFill>
                <a:latin typeface="Calibri"/>
                <a:ea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4002B"/>
                </a:solidFill>
                <a:latin typeface="Calibri"/>
                <a:ea typeface="Malgun Gothic"/>
              </a:rPr>
              <a:t>결과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한 주 만에 만든, 동작하는 메타프롬프팅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331720"/>
            <a:ext cx="243230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4002B"/>
                </a:solidFill>
                <a:latin typeface="Cambria"/>
                <a:ea typeface="Malgun Gothic"/>
              </a:rPr>
              <a:t>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310128"/>
            <a:ext cx="243230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  <a:ea typeface="Malgun Gothic"/>
              </a:rPr>
              <a:t>모듈 / 요구사항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210312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331720"/>
            <a:ext cx="243230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4002B"/>
                </a:solidFill>
                <a:latin typeface="Cambria"/>
                <a:ea typeface="Malgun Gothic"/>
              </a:rPr>
              <a:t>25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3310128"/>
            <a:ext cx="243230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  <a:ea typeface="Malgun Gothic"/>
              </a:rPr>
              <a:t>단위 테스트 통과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10312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331720"/>
            <a:ext cx="243230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4002B"/>
                </a:solidFill>
                <a:latin typeface="Cambria"/>
                <a:ea typeface="Malgun Gothic"/>
              </a:rPr>
              <a:t>651 · 4096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310128"/>
            <a:ext cx="243230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  <a:ea typeface="Malgun Gothic"/>
              </a:rPr>
              <a:t>템플릿 · 임베딩 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2103120"/>
            <a:ext cx="2615184" cy="173736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2331720"/>
            <a:ext cx="243230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4002B"/>
                </a:solidFill>
                <a:latin typeface="Cambria"/>
                <a:ea typeface="Malgun Gothic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310128"/>
            <a:ext cx="243230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  <a:ea typeface="Malgun Gothic"/>
              </a:rPr>
              <a:t>FE 런타임 의존성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10908792" cy="178308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  <a:ea typeface="Malgun Gothic"/>
              </a:rPr>
              <a:t>요구사항 분석 → 설계 → 구현 → 테스트 → 실행까지 전 사이클 완결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  <a:ea typeface="Malgun Gothic"/>
              </a:rPr>
              <a:t>FE 확장(가로채기·승인·시각화)과 BE 파이프라인(정제·검색·리랭킹·생성)을 모듈별 브랜치·PR로 통합했고, 검증 가능한 증거(테스트 로그·.vsix·git 히스토리)와 함께 7개 모듈 30개 요구사항을 구현했다.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4002B"/>
                </a:solidFill>
                <a:latin typeface="Calibri"/>
                <a:ea typeface="Malgun Gothic"/>
              </a:rPr>
              <a:t>한계 · 향후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  <a:ea typeface="Malgun Gothic"/>
              </a:rPr>
              <a:t>남은 과제와 다음 걸음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449824" cy="338328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한계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3405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6090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채팅 표면 스타일 제약 — 채팅 버튼은 커스텀 색·CSS 불가(테마색 고정). 브랜드 색은 사이드바 webview에서만.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0273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2958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정제 품질은 BE 의존 — 알고리즘·모델은 정제 서버 책임. 확장은 호출·게이트·기록만 담당.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47141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39826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외부 GPU 서빙 전제 — vLLM 모델은 로컬 GPU 또는 RunPod 엔드포인트 가동이 필요.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85232" cy="3383280"/>
          </a:xfrm>
          <a:prstGeom prst="roundRect">
            <a:avLst>
              <a:gd name="adj" fmla="val 8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</a:rPr>
              <a:t>향후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34056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66090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정제 서버 주소를 VS Code 설정으로 노출 — 사용자가 직접 엔드포인트 전환.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392424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3319272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모델 메타데이터 로깅 — 어떤 모델·템플릿으로 정제됐는지 기록·분석.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4050791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9776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정제 프리셋 — 도메인별(코드·문서·번역) 정제 스타일 선택.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4709159"/>
            <a:ext cx="91440" cy="914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4636007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  <a:ea typeface="Malgun Gothic"/>
              </a:rPr>
              <a:t>응답 캐싱 — 동일 입력 재사용으로 지연·토큰 절감.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881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  <a:ea typeface="Malgun Gothic"/>
              </a:rPr>
              <a:t>Copilot Meta-Prompting   ·   SW Bootcamp 13기 C반 4팀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AE"/>
                </a:solidFill>
                <a:latin typeface="Calibri"/>
                <a:ea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
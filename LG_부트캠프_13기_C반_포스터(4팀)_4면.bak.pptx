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59675" cy="10691813"/>
  <p:notesSz cx="6858000" cy="9144000"/>
  <p:embeddedFontLst>
    <p:embeddedFont>
      <p:font typeface="Malgun Gothic" panose="020B0503020000020004" pitchFamily="50" charset="-127"/>
      <p:regular r:id="rId6"/>
      <p:bold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mbria" panose="02040503050406030204" pitchFamily="18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1818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09728"/>
            <a:ext cx="7559984" cy="3493008"/>
          </a:xfrm>
          <a:prstGeom prst="rect">
            <a:avLst/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645584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2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SW BOOTCAMP 13기   ·   C반 4팀   ·   프로젝트 요약 포스터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68096"/>
            <a:ext cx="6645584" cy="86868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Copilot </a:t>
            </a:r>
            <a:r>
              <a:rPr sz="41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Meta-Prompting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27632"/>
            <a:ext cx="6645584" cy="2308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500" b="0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vLLM</a:t>
            </a:r>
            <a:r>
              <a:rPr lang="ko-KR" altLang="en-US" sz="1500" b="0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을 활용해 </a:t>
            </a:r>
            <a:r>
              <a:rPr sz="1500" b="0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Copilot Chat </a:t>
            </a:r>
            <a:r>
              <a:rPr sz="1500" b="0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프롬프트를</a:t>
            </a:r>
            <a:r>
              <a:rPr sz="1500" b="0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500" b="0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개선하는</a:t>
            </a:r>
            <a:r>
              <a:rPr sz="1500" b="0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메타프롬프팅</a:t>
            </a:r>
            <a:r>
              <a:rPr sz="1500" b="0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시스템</a:t>
            </a:r>
            <a:endParaRPr sz="1500" b="0" i="0" dirty="0">
              <a:solidFill>
                <a:srgbClr val="CADCFC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2139696"/>
            <a:ext cx="6645584" cy="548640"/>
          </a:xfrm>
          <a:prstGeom prst="roundRect">
            <a:avLst>
              <a:gd name="adj" fmla="val 9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310141"/>
            <a:ext cx="6279824" cy="207749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 dirty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@refine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lang="ko-KR" altLang="en-US" sz="125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간단한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한 줄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질문을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검증된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고품질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프롬프트로</a:t>
            </a:r>
            <a:endParaRPr sz="1250" b="0" i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2798064"/>
            <a:ext cx="1318496" cy="402336"/>
          </a:xfrm>
          <a:prstGeom prst="roundRect">
            <a:avLst>
              <a:gd name="adj" fmla="val 50000"/>
            </a:avLst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98064"/>
            <a:ext cx="13184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5696" y="2798064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2896" y="2798064"/>
            <a:ext cx="1318496" cy="402336"/>
          </a:xfrm>
          <a:prstGeom prst="roundRect">
            <a:avLst>
              <a:gd name="adj" fmla="val 50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2896" y="2798064"/>
            <a:ext cx="13184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1392" y="2798064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8592" y="2798064"/>
            <a:ext cx="1318496" cy="402336"/>
          </a:xfrm>
          <a:prstGeom prst="roundRect">
            <a:avLst>
              <a:gd name="adj" fmla="val 50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08592" y="2798064"/>
            <a:ext cx="13184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7088" y="2798064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84288" y="2798064"/>
            <a:ext cx="1318496" cy="402336"/>
          </a:xfrm>
          <a:prstGeom prst="roundRect">
            <a:avLst>
              <a:gd name="adj" fmla="val 50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84288" y="2798064"/>
            <a:ext cx="13184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생성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675887"/>
            <a:ext cx="420624" cy="42062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639311"/>
            <a:ext cx="6042080" cy="2560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822191"/>
            <a:ext cx="6042080" cy="36576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왜 메타프롬프팅인가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61104"/>
            <a:ext cx="6645584" cy="141732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4407408"/>
            <a:ext cx="6243248" cy="667747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 dirty="0" err="1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문제</a:t>
            </a:r>
            <a:endParaRPr sz="1350" b="1" i="0" dirty="0">
              <a:solidFill>
                <a:srgbClr val="E4002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짧고</a:t>
            </a:r>
            <a:r>
              <a:rPr sz="11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모호한</a:t>
            </a:r>
            <a:r>
              <a:rPr sz="11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프롬프트</a:t>
            </a:r>
            <a:r>
              <a:rPr sz="11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(“</a:t>
            </a:r>
            <a:r>
              <a:rPr sz="11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정렬</a:t>
            </a:r>
            <a:r>
              <a:rPr sz="11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코드</a:t>
            </a:r>
            <a:r>
              <a:rPr sz="11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짜줘</a:t>
            </a:r>
            <a:r>
              <a:rPr sz="11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”) → </a:t>
            </a:r>
            <a:r>
              <a:rPr lang="ko-KR" altLang="en-US" sz="115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잘못된 답변</a:t>
            </a:r>
            <a:r>
              <a:rPr sz="11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lang="ko-KR" altLang="en-US" sz="115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다시 </a:t>
            </a:r>
            <a:r>
              <a:rPr lang="ko-KR" altLang="en-US" sz="115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프롬프팅</a:t>
            </a:r>
            <a:endParaRPr sz="1150" b="0" i="0" dirty="0">
              <a:solidFill>
                <a:srgbClr val="181F2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토큰·시간</a:t>
            </a:r>
            <a:r>
              <a:rPr sz="11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낭비로</a:t>
            </a:r>
            <a:r>
              <a:rPr sz="11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이어진다</a:t>
            </a:r>
            <a:r>
              <a:rPr sz="11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815584"/>
            <a:ext cx="6645584" cy="1417320"/>
          </a:xfrm>
          <a:prstGeom prst="roundRect">
            <a:avLst>
              <a:gd name="adj" fmla="val 5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5961888"/>
            <a:ext cx="6243248" cy="68877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 dirty="0" err="1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핵심</a:t>
            </a:r>
            <a:r>
              <a:rPr sz="1350" b="1" i="0" dirty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i="0" dirty="0" err="1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통찰</a:t>
            </a:r>
            <a:endParaRPr sz="1350" b="1" i="0" dirty="0">
              <a:solidFill>
                <a:srgbClr val="E4002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ko-KR" altLang="en-US" sz="120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비용절감의 답은</a:t>
            </a:r>
            <a:r>
              <a:rPr sz="120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1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“더 </a:t>
            </a:r>
            <a:r>
              <a:rPr sz="1200" b="1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좋은</a:t>
            </a:r>
            <a:r>
              <a:rPr sz="1200" b="1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1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프롬프트</a:t>
            </a:r>
            <a:r>
              <a:rPr sz="1200" b="1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”</a:t>
            </a:r>
            <a:r>
              <a:rPr sz="1200" b="0" i="0" dirty="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소형</a:t>
            </a:r>
            <a:r>
              <a:rPr sz="120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모델도</a:t>
            </a:r>
            <a:r>
              <a:rPr sz="120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잘 </a:t>
            </a:r>
            <a:r>
              <a:rPr sz="120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설계된</a:t>
            </a:r>
            <a:r>
              <a:rPr sz="120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프롬프트면</a:t>
            </a:r>
            <a:r>
              <a:rPr sz="120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고품질</a:t>
            </a:r>
            <a:r>
              <a:rPr sz="120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200" b="1" i="0" dirty="0" err="1">
                <a:solidFill>
                  <a:srgbClr val="1E9E57"/>
                </a:solidFill>
                <a:latin typeface="Malgun Gothic"/>
                <a:ea typeface="Malgun Gothic"/>
                <a:cs typeface="Malgun Gothic"/>
              </a:rPr>
              <a:t>토큰</a:t>
            </a:r>
            <a:r>
              <a:rPr sz="1200" b="1" i="0" dirty="0">
                <a:solidFill>
                  <a:srgbClr val="1E9E5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1" i="0" dirty="0" err="1">
                <a:solidFill>
                  <a:srgbClr val="1E9E57"/>
                </a:solidFill>
                <a:latin typeface="Malgun Gothic"/>
                <a:ea typeface="Malgun Gothic"/>
                <a:cs typeface="Malgun Gothic"/>
              </a:rPr>
              <a:t>절감</a:t>
            </a:r>
            <a:r>
              <a:rPr sz="1200" b="0" i="0" dirty="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7397496"/>
            <a:ext cx="6645584" cy="141732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7543800"/>
            <a:ext cx="6243248" cy="443455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 dirty="0" err="1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해법</a:t>
            </a:r>
            <a:endParaRPr sz="1350" b="1" i="0" dirty="0">
              <a:solidFill>
                <a:srgbClr val="E4002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입력과</a:t>
            </a:r>
            <a:r>
              <a:rPr sz="11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LLM </a:t>
            </a:r>
            <a:r>
              <a:rPr sz="11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사이에</a:t>
            </a:r>
            <a:r>
              <a:rPr sz="11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‘</a:t>
            </a:r>
            <a:r>
              <a:rPr sz="11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정제</a:t>
            </a:r>
            <a:r>
              <a:rPr sz="11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계층’을</a:t>
            </a:r>
            <a:r>
              <a:rPr sz="11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끼워</a:t>
            </a:r>
            <a:r>
              <a:rPr sz="11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넣</a:t>
            </a:r>
            <a:r>
              <a:rPr lang="ko-KR" altLang="en-US" sz="11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어 </a:t>
            </a:r>
            <a:r>
              <a:rPr lang="en-US" altLang="ko-KR" sz="11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vLLM</a:t>
            </a:r>
            <a:r>
              <a:rPr lang="en-US" altLang="ko-KR" sz="11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1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기반 프롬프트 정제 수행</a:t>
            </a:r>
            <a:endParaRPr sz="1150" b="0" i="0" dirty="0">
              <a:solidFill>
                <a:srgbClr val="181F2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9152897"/>
            <a:ext cx="6645584" cy="36625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1" dirty="0">
                <a:solidFill>
                  <a:srgbClr val="A80020"/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lang="ko-KR" altLang="en-US" sz="1900" b="1" i="1" dirty="0">
                <a:solidFill>
                  <a:srgbClr val="A80020"/>
                </a:solidFill>
                <a:latin typeface="Malgun Gothic"/>
                <a:ea typeface="Malgun Gothic"/>
                <a:cs typeface="Malgun Gothic"/>
              </a:rPr>
              <a:t>오픈소스 </a:t>
            </a:r>
            <a:r>
              <a:rPr lang="en-US" altLang="ko-KR" sz="1900" b="1" i="1" dirty="0">
                <a:solidFill>
                  <a:srgbClr val="A80020"/>
                </a:solidFill>
                <a:latin typeface="Malgun Gothic"/>
                <a:ea typeface="Malgun Gothic"/>
                <a:cs typeface="Malgun Gothic"/>
              </a:rPr>
              <a:t>LLM</a:t>
            </a:r>
            <a:r>
              <a:rPr lang="ko-KR" altLang="en-US" sz="1900" b="1" i="1" dirty="0">
                <a:solidFill>
                  <a:srgbClr val="A80020"/>
                </a:solidFill>
                <a:latin typeface="Malgun Gothic"/>
                <a:ea typeface="Malgun Gothic"/>
                <a:cs typeface="Malgun Gothic"/>
              </a:rPr>
              <a:t>을 활용한 프롬프트 정제</a:t>
            </a:r>
            <a:r>
              <a:rPr sz="1900" b="1" i="1" dirty="0">
                <a:solidFill>
                  <a:srgbClr val="A80020"/>
                </a:solidFill>
                <a:latin typeface="Malgun Gothic"/>
                <a:ea typeface="Malgun Gothic"/>
                <a:cs typeface="Malgun Gothic"/>
              </a:rPr>
              <a:t>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0271363"/>
            <a:ext cx="6096944" cy="27432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81F2B"/>
                </a:solidFill>
                <a:latin typeface="Cambria"/>
                <a:ea typeface="Malgun Gothic"/>
                <a:cs typeface="Cambria"/>
              </a:rPr>
              <a:t>Copilot Meta-Prompting</a:t>
            </a:r>
            <a:r>
              <a:rPr sz="850" b="0" i="0">
                <a:solidFill>
                  <a:srgbClr val="9AA4AE"/>
                </a:solidFill>
                <a:latin typeface="Malgun Gothic"/>
                <a:ea typeface="Malgun Gothic"/>
                <a:cs typeface="Malgun Gothic"/>
              </a:rPr>
              <a:t>    ·    SW Bootcamp 13기 C반 4팀    ·    github.com/swbteng/copilot-meta-prompting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1264" y="10271363"/>
            <a:ext cx="731520" cy="274320"/>
          </a:xfrm>
          <a:prstGeom prst="rect">
            <a:avLst/>
          </a:prstGeom>
          <a:noFill/>
        </p:spPr>
        <p:txBody>
          <a:bodyPr wrap="square" lIns="73152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AA4AE"/>
                </a:solidFill>
                <a:latin typeface="Cambria"/>
                <a:ea typeface="Malgun Gothic"/>
                <a:cs typeface="Cambria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566928"/>
            <a:ext cx="420624" cy="42062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530352"/>
            <a:ext cx="6042080" cy="2560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13232"/>
            <a:ext cx="6042080" cy="36576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전체 구조 — FE 확장 ↔ BE 파이프라인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6645584" cy="265176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6188384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FRONTEND</a:t>
            </a:r>
            <a:r>
              <a:rPr sz="14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  —   VS Code 확장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84248"/>
            <a:ext cx="618838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2286000" cy="45720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@refine 참가자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984248"/>
            <a:ext cx="3628064" cy="45720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정제 미리보기 + 5선택지 승인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32888"/>
            <a:ext cx="618838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532888"/>
            <a:ext cx="2286000" cy="45720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사이드바 (Webview)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532888"/>
            <a:ext cx="3628064" cy="45720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원본→정제본</a:t>
            </a:r>
            <a:r>
              <a:rPr sz="10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카드</a:t>
            </a:r>
            <a:r>
              <a:rPr sz="10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0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검색</a:t>
            </a:r>
            <a:r>
              <a:rPr sz="10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· diff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81528"/>
            <a:ext cx="618838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2286000" cy="45720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로그 (JSONL)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081528"/>
            <a:ext cx="3628064" cy="45720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  <a:cs typeface="Calibri"/>
              </a:rPr>
              <a:t>observe-YYYY-MM-DD.log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58184"/>
            <a:ext cx="6188384" cy="2560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40">
                <a:solidFill>
                  <a:srgbClr val="9AA4AE"/>
                </a:solidFill>
                <a:latin typeface="Malgun Gothic"/>
                <a:ea typeface="Malgun Gothic"/>
                <a:cs typeface="Malgun Gothic"/>
              </a:rPr>
              <a:t>R-EX-01 ~ 11   ·   순수 JS   ·   런타임 의존성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87368"/>
            <a:ext cx="6645584" cy="32918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 spc="4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▼  HTTP   POST /refine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53128"/>
            <a:ext cx="6645584" cy="1481328"/>
          </a:xfrm>
          <a:prstGeom prst="roundRect">
            <a:avLst>
              <a:gd name="adj" fmla="val 4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599432"/>
            <a:ext cx="6188384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BACKEND</a:t>
            </a:r>
            <a:r>
              <a: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 —   Endpoint (FastAPI) · 메타프롬프팅 파이프라인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01768"/>
            <a:ext cx="1259060" cy="713232"/>
          </a:xfrm>
          <a:prstGeom prst="roundRect">
            <a:avLst>
              <a:gd name="adj" fmla="val 7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093207"/>
            <a:ext cx="1259060" cy="310896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정제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85816"/>
            <a:ext cx="1259060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/rewrite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44860" y="5001768"/>
            <a:ext cx="384048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28908" y="5001768"/>
            <a:ext cx="1259060" cy="713232"/>
          </a:xfrm>
          <a:prstGeom prst="roundRect">
            <a:avLst>
              <a:gd name="adj" fmla="val 7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28908" y="5093207"/>
            <a:ext cx="1259060" cy="310896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검색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8908" y="5385816"/>
            <a:ext cx="1259060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7968" y="5001768"/>
            <a:ext cx="384048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72016" y="5001768"/>
            <a:ext cx="1259060" cy="713232"/>
          </a:xfrm>
          <a:prstGeom prst="roundRect">
            <a:avLst>
              <a:gd name="adj" fmla="val 7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72016" y="5093207"/>
            <a:ext cx="1259060" cy="310896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리랭킹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2016" y="5385816"/>
            <a:ext cx="1259060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/rerank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1076" y="5001768"/>
            <a:ext cx="384048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15124" y="5001768"/>
            <a:ext cx="1259060" cy="713232"/>
          </a:xfrm>
          <a:prstGeom prst="roundRect">
            <a:avLst>
              <a:gd name="adj" fmla="val 7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15124" y="5093207"/>
            <a:ext cx="1259060" cy="310896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생성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15124" y="5385816"/>
            <a:ext cx="1259060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/generate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245352"/>
            <a:ext cx="3167344" cy="2971800"/>
          </a:xfrm>
          <a:prstGeom prst="roundRect">
            <a:avLst>
              <a:gd name="adj" fmla="val 45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6409944"/>
            <a:ext cx="2765008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4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AI INFRA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5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vLLM 서빙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7086600"/>
            <a:ext cx="2765008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50" b="1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LLM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  <a:cs typeface="Calibri"/>
              </a:rPr>
              <a:t>   Qwen3.6-35B-A3B (AWQ 4-bit)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7690104"/>
            <a:ext cx="2765008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50" b="1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Embedding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  <a:cs typeface="Calibri"/>
              </a:rPr>
              <a:t>   Qwen3-Embedding-8B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8293608"/>
            <a:ext cx="2765008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50" b="1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Reranker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  <a:cs typeface="Calibri"/>
              </a:rPr>
              <a:t>   Qwen3-Reranker-4B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35440" y="6245352"/>
            <a:ext cx="3167344" cy="2971800"/>
          </a:xfrm>
          <a:prstGeom prst="roundRect">
            <a:avLst>
              <a:gd name="adj" fmla="val 45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36608" y="6409944"/>
            <a:ext cx="2765008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4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VECTOR DB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50" b="1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Chroma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36608" y="7086600"/>
            <a:ext cx="2765008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5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템플릿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  651개 고품질 프롬프트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36608" y="7690104"/>
            <a:ext cx="2765008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5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임베딩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  4096차원 (Qwen3-8B)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36608" y="8293608"/>
            <a:ext cx="2765008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5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  <a:cs typeface="Calibri"/>
              </a:rPr>
              <a:t>   Top-20 → Reranker → Top-3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10271363"/>
            <a:ext cx="6096944" cy="27432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81F2B"/>
                </a:solidFill>
                <a:latin typeface="Cambria"/>
                <a:ea typeface="Malgun Gothic"/>
                <a:cs typeface="Cambria"/>
              </a:rPr>
              <a:t>Copilot Meta-Prompting</a:t>
            </a:r>
            <a:r>
              <a:rPr sz="850" b="0" i="0">
                <a:solidFill>
                  <a:srgbClr val="9AA4AE"/>
                </a:solidFill>
                <a:latin typeface="Malgun Gothic"/>
                <a:ea typeface="Malgun Gothic"/>
                <a:cs typeface="Malgun Gothic"/>
              </a:rPr>
              <a:t>    ·    SW Bootcamp 13기 C반 4팀    ·    github.com/swbteng/copilot-meta-prompting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1264" y="10271363"/>
            <a:ext cx="731520" cy="274320"/>
          </a:xfrm>
          <a:prstGeom prst="rect">
            <a:avLst/>
          </a:prstGeom>
          <a:noFill/>
        </p:spPr>
        <p:txBody>
          <a:bodyPr wrap="square" lIns="73152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AA4AE"/>
                </a:solidFill>
                <a:latin typeface="Cambria"/>
                <a:ea typeface="Malgun Gothic"/>
                <a:cs typeface="Cambria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566928"/>
            <a:ext cx="420624" cy="42062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530352"/>
            <a:ext cx="6042080" cy="2560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13232"/>
            <a:ext cx="6042080" cy="36576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정제는 어떻게 일어나는가 — 4단계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6645584" cy="76809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572768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81328"/>
            <a:ext cx="210312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LLM 정제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792224"/>
            <a:ext cx="914400" cy="246888"/>
          </a:xfrm>
          <a:prstGeom prst="roundRect">
            <a:avLst>
              <a:gd name="adj" fmla="val 35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792224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/rewrite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371600"/>
            <a:ext cx="3993824" cy="76809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모호한 입력을 명료한 영어 프롬프트로 재작성. 의도 보존.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9424"/>
            <a:ext cx="6645584" cy="76809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" y="2450592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359152"/>
            <a:ext cx="210312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벡터 검색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670048"/>
            <a:ext cx="914400" cy="246888"/>
          </a:xfrm>
          <a:prstGeom prst="roundRect">
            <a:avLst>
              <a:gd name="adj" fmla="val 35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2670048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249424"/>
            <a:ext cx="3993824" cy="76809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재작성본을 임베딩해 Chroma 코사인 유사도 Top-20 검색.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27248"/>
            <a:ext cx="6645584" cy="76809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3328416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236976"/>
            <a:ext cx="210312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리랭킹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547872"/>
            <a:ext cx="914400" cy="246888"/>
          </a:xfrm>
          <a:prstGeom prst="roundRect">
            <a:avLst>
              <a:gd name="adj" fmla="val 35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3547872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/rerank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127248"/>
            <a:ext cx="3993824" cy="76809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Reranker로 의미 적합성 재점수화 → 최종 Top-3 선별.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05072"/>
            <a:ext cx="6645584" cy="76809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0080" y="4206240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114800"/>
            <a:ext cx="210312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LLM 최종 생성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25696"/>
            <a:ext cx="914400" cy="246888"/>
          </a:xfrm>
          <a:prstGeom prst="roundRect">
            <a:avLst>
              <a:gd name="adj" fmla="val 35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4425696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/generate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005072"/>
            <a:ext cx="3993824" cy="76809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Top-3 중 최적 선택 + 원본 의도로 최종 프롬프트 합성.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47488"/>
            <a:ext cx="6645584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81F2B"/>
                </a:solidFill>
                <a:latin typeface="Cambria"/>
                <a:ea typeface="Malgun Gothic"/>
                <a:cs typeface="Cambria"/>
              </a:rPr>
              <a:t>@refine UX</a:t>
            </a:r>
            <a:r>
              <a:rPr sz="1250" b="1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 —  5가지 승인 선택지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431536"/>
            <a:ext cx="6645584" cy="384048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431536"/>
            <a:ext cx="2011680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✓  전송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5431536"/>
            <a:ext cx="4222424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정제본 자동 전송 (기록 남김)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88736"/>
            <a:ext cx="6645584" cy="384048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888736"/>
            <a:ext cx="2011680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✎  수정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5888736"/>
            <a:ext cx="4222424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정제본을 입력창에 채워 편집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345936"/>
            <a:ext cx="6645584" cy="384048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6345936"/>
            <a:ext cx="2011680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↻  다시 정제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6345936"/>
            <a:ext cx="4222424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동일 원본으로 재정제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803136"/>
            <a:ext cx="6645584" cy="384048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6803136"/>
            <a:ext cx="2011680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→  원본 전송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80" y="6803136"/>
            <a:ext cx="4222424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정제 없이 원본 그대로 전송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7260336"/>
            <a:ext cx="6645584" cy="384048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7260336"/>
            <a:ext cx="2011680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✕  취소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97480" y="7260336"/>
            <a:ext cx="4222424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@refine 원본을 입력창에 복원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7827263"/>
            <a:ext cx="6645584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설계 불변식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8193023"/>
            <a:ext cx="2093274" cy="384048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8193023"/>
            <a:ext cx="209327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fail-open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33354" y="8193023"/>
            <a:ext cx="2093274" cy="384048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33354" y="8193023"/>
            <a:ext cx="209327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명시 호출만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09509" y="8193023"/>
            <a:ext cx="2093274" cy="384048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09509" y="8193023"/>
            <a:ext cx="209327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게이트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8668511"/>
            <a:ext cx="2093274" cy="384048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8668511"/>
            <a:ext cx="209327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의존성 0 (FE)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33354" y="8668511"/>
            <a:ext cx="2093274" cy="384048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33354" y="8668511"/>
            <a:ext cx="209327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JSONL 동결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09509" y="8668511"/>
            <a:ext cx="2093274" cy="384048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009509" y="8668511"/>
            <a:ext cx="209327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 보존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10271363"/>
            <a:ext cx="6096944" cy="27432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81F2B"/>
                </a:solidFill>
                <a:latin typeface="Cambria"/>
                <a:ea typeface="Malgun Gothic"/>
                <a:cs typeface="Cambria"/>
              </a:rPr>
              <a:t>Copilot Meta-Prompting</a:t>
            </a:r>
            <a:r>
              <a:rPr sz="850" b="0" i="0">
                <a:solidFill>
                  <a:srgbClr val="9AA4AE"/>
                </a:solidFill>
                <a:latin typeface="Malgun Gothic"/>
                <a:ea typeface="Malgun Gothic"/>
                <a:cs typeface="Malgun Gothic"/>
              </a:rPr>
              <a:t>    ·    SW Bootcamp 13기 C반 4팀    ·    github.com/swbteng/copilot-meta-prompting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71264" y="10271363"/>
            <a:ext cx="731520" cy="274320"/>
          </a:xfrm>
          <a:prstGeom prst="rect">
            <a:avLst/>
          </a:prstGeom>
          <a:noFill/>
        </p:spPr>
        <p:txBody>
          <a:bodyPr wrap="square" lIns="73152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AA4AE"/>
                </a:solidFill>
                <a:latin typeface="Cambria"/>
                <a:ea typeface="Malgun Gothic"/>
                <a:cs typeface="Cambria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566928"/>
            <a:ext cx="420624" cy="42062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530352"/>
            <a:ext cx="6042080" cy="2560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기술 스택 &amp;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13232"/>
            <a:ext cx="6042080" cy="36576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무엇으로 만들었고, 무엇을 이뤘는가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044506" cy="4160520"/>
          </a:xfrm>
          <a:prstGeom prst="roundRect">
            <a:avLst>
              <a:gd name="adj" fmla="val 45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" y="1600200"/>
            <a:ext cx="1715322" cy="365760"/>
          </a:xfrm>
          <a:prstGeom prst="roundRect">
            <a:avLst>
              <a:gd name="adj" fmla="val 30000"/>
            </a:avLst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171532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 spc="4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3055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VS Code Extension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7919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Chat Participant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2783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WebviewView + CSP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7647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Node http / https / 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2511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JSONL · @vscode/vsce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73751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런타임 의존성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57738" y="1417320"/>
            <a:ext cx="2044506" cy="4160520"/>
          </a:xfrm>
          <a:prstGeom prst="roundRect">
            <a:avLst>
              <a:gd name="adj" fmla="val 45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22330" y="1600200"/>
            <a:ext cx="1715322" cy="365760"/>
          </a:xfrm>
          <a:prstGeom prst="roundRect">
            <a:avLst>
              <a:gd name="adj" fmla="val 30000"/>
            </a:avLst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2330" y="1600200"/>
            <a:ext cx="171532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 spc="4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0618" y="213055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FastAPI · uvicorn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0618" y="267919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0618" y="322783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ChromaDB 1.5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0618" y="377647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OpenAI SDK 2.44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0618" y="432511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scikit-learn (viz)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0618" y="4873751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버전 핀 고정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58277" y="1417320"/>
            <a:ext cx="2044506" cy="4160520"/>
          </a:xfrm>
          <a:prstGeom prst="roundRect">
            <a:avLst>
              <a:gd name="adj" fmla="val 45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222869" y="1600200"/>
            <a:ext cx="1715322" cy="365760"/>
          </a:xfrm>
          <a:prstGeom prst="roundRect">
            <a:avLst>
              <a:gd name="adj" fmla="val 30000"/>
            </a:avLst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22869" y="1600200"/>
            <a:ext cx="171532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 spc="4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AI / INFRA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1157" y="213055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vLLM 0.19.1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1157" y="267919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Qwen3.6-35B (AWQ)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1157" y="322783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Qwen3-Embedding-8B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1157" y="377647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Qwen3-Reranker-4B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1157" y="432511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OpenAI 호환 /v1/*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1157" y="4873751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로컬 GPU / RunPod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5888736"/>
            <a:ext cx="7559984" cy="4236323"/>
          </a:xfrm>
          <a:prstGeom prst="rect">
            <a:avLst/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126479"/>
            <a:ext cx="6645584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8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364223"/>
            <a:ext cx="6645584" cy="36576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요구사항 분석 → 설계 → 구현 → 테스트 → 실행까지 전 사이클 완결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7389677"/>
            <a:ext cx="1496804" cy="2148840"/>
          </a:xfrm>
          <a:prstGeom prst="roundRect">
            <a:avLst>
              <a:gd name="adj" fmla="val 6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7389677"/>
            <a:ext cx="1496804" cy="21488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5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7 / 30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모듈 / 요구사항 구현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73460" y="7389677"/>
            <a:ext cx="1496804" cy="2148840"/>
          </a:xfrm>
          <a:prstGeom prst="roundRect">
            <a:avLst>
              <a:gd name="adj" fmla="val 6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73460" y="7389677"/>
            <a:ext cx="1496804" cy="21488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5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25 / 25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단위 테스트 통과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89720" y="7389677"/>
            <a:ext cx="1496804" cy="2148840"/>
          </a:xfrm>
          <a:prstGeom prst="roundRect">
            <a:avLst>
              <a:gd name="adj" fmla="val 6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889720" y="7389677"/>
            <a:ext cx="1496804" cy="21488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651 · 4096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템플릿 · 임베딩 차원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05980" y="7389677"/>
            <a:ext cx="1496804" cy="2148840"/>
          </a:xfrm>
          <a:prstGeom prst="roundRect">
            <a:avLst>
              <a:gd name="adj" fmla="val 6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05980" y="7389677"/>
            <a:ext cx="1496804" cy="21488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5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0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FE 런타임 의존성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10271363"/>
            <a:ext cx="6096944" cy="27432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81F2B"/>
                </a:solidFill>
                <a:latin typeface="Cambria"/>
                <a:ea typeface="Malgun Gothic"/>
                <a:cs typeface="Cambria"/>
              </a:rPr>
              <a:t>Copilot Meta-Prompting</a:t>
            </a:r>
            <a:r>
              <a:rPr sz="850" b="0" i="0">
                <a:solidFill>
                  <a:srgbClr val="9AA4AE"/>
                </a:solidFill>
                <a:latin typeface="Malgun Gothic"/>
                <a:ea typeface="Malgun Gothic"/>
                <a:cs typeface="Malgun Gothic"/>
              </a:rPr>
              <a:t>    ·    SW Bootcamp 13기 C반 4팀    ·    github.com/swbteng/copilot-meta-prompting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1264" y="10271363"/>
            <a:ext cx="731520" cy="274320"/>
          </a:xfrm>
          <a:prstGeom prst="rect">
            <a:avLst/>
          </a:prstGeom>
          <a:noFill/>
        </p:spPr>
        <p:txBody>
          <a:bodyPr wrap="square" lIns="73152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AA4AE"/>
                </a:solidFill>
                <a:latin typeface="Cambria"/>
                <a:ea typeface="Malgun Gothic"/>
                <a:cs typeface="Cambria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591</Words>
  <Application>Microsoft Office PowerPoint</Application>
  <PresentationFormat>사용자 지정</PresentationFormat>
  <Paragraphs>142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Cambria</vt:lpstr>
      <vt:lpstr>Arial</vt:lpstr>
      <vt:lpstr>Malgun Gothic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홍창표/연구원/O&amp;O서비스개발팀</cp:lastModifiedBy>
  <cp:revision>5</cp:revision>
  <dcterms:created xsi:type="dcterms:W3CDTF">2013-01-27T09:14:16Z</dcterms:created>
  <dcterms:modified xsi:type="dcterms:W3CDTF">2026-07-01T03:09:08Z</dcterms:modified>
  <cp:category/>
</cp:coreProperties>
</file>
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22128480" cy="5120640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868680"/>
            <a:ext cx="1920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CADCFC"/>
                </a:solidFill>
                <a:latin typeface="Calibri"/>
                <a:ea typeface="Malgun Gothic"/>
              </a:rPr>
              <a:t>SW BOOTCAMP 13기  ·  C반 4팀  ·  프로젝트 요약 포스터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17320"/>
            <a:ext cx="19659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800" b="1" i="0">
                <a:solidFill>
                  <a:srgbClr val="FFFFFF"/>
                </a:solidFill>
                <a:latin typeface="Cambria"/>
                <a:ea typeface="Malgun Gothic"/>
              </a:rPr>
              <a:t>Copilot </a:t>
            </a:r>
            <a:r>
              <a:rPr sz="8800" b="1" i="0">
                <a:solidFill>
                  <a:srgbClr val="E4002B"/>
                </a:solidFill>
                <a:latin typeface="Cambria"/>
                <a:ea typeface="Malgun Gothic"/>
              </a:rPr>
              <a:t>Meta-Prompting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80360"/>
            <a:ext cx="1920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0" i="0">
                <a:solidFill>
                  <a:srgbClr val="CADCFC"/>
                </a:solidFill>
                <a:latin typeface="Calibri"/>
                <a:ea typeface="Malgun Gothic"/>
              </a:rPr>
              <a:t>Copilot Chat 프롬프트를 가로채 자동 정제하는 메타프롬프팅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794760"/>
            <a:ext cx="12252960" cy="914400"/>
          </a:xfrm>
          <a:prstGeom prst="roundRect">
            <a:avLst>
              <a:gd name="adj" fmla="val 18000"/>
            </a:avLst>
          </a:prstGeom>
          <a:solidFill>
            <a:srgbClr val="1A253D"/>
          </a:solidFill>
          <a:ln w="1524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3794760"/>
            <a:ext cx="1179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E4002B"/>
                </a:solidFill>
                <a:latin typeface="Calibri"/>
                <a:ea typeface="Malgun Gothic"/>
              </a:rPr>
              <a:t>@refine </a:t>
            </a:r>
            <a:r>
              <a:rPr sz="2000" b="0" i="0">
                <a:solidFill>
                  <a:srgbClr val="FFFFFF"/>
                </a:solidFill>
                <a:latin typeface="Calibri"/>
                <a:ea typeface="Malgun Gothic"/>
              </a:rPr>
              <a:t>— 거친 한 줄 질문을, 검증된 고품질 프롬프트로</a:t>
            </a:r>
          </a:p>
        </p:txBody>
      </p:sp>
      <p:sp>
        <p:nvSpPr>
          <p:cNvPr id="8" name="Oval 7"/>
          <p:cNvSpPr/>
          <p:nvPr/>
        </p:nvSpPr>
        <p:spPr>
          <a:xfrm>
            <a:off x="14081760" y="3904487"/>
            <a:ext cx="457200" cy="457200"/>
          </a:xfrm>
          <a:prstGeom prst="ellipse">
            <a:avLst/>
          </a:prstGeom>
          <a:solidFill>
            <a:srgbClr val="E4002B"/>
          </a:solidFill>
          <a:ln w="25400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624560" y="44348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정제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38960" y="4116628"/>
            <a:ext cx="1170432" cy="32918"/>
          </a:xfrm>
          <a:prstGeom prst="rect">
            <a:avLst/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709392" y="3904487"/>
            <a:ext cx="457200" cy="457200"/>
          </a:xfrm>
          <a:prstGeom prst="ellipse">
            <a:avLst/>
          </a:prstGeom>
          <a:solidFill>
            <a:srgbClr val="1A253D"/>
          </a:solidFill>
          <a:ln w="25400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52192" y="44348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검색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166592" y="4116628"/>
            <a:ext cx="1170432" cy="32918"/>
          </a:xfrm>
          <a:prstGeom prst="rect">
            <a:avLst/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337024" y="3904487"/>
            <a:ext cx="457200" cy="457200"/>
          </a:xfrm>
          <a:prstGeom prst="ellipse">
            <a:avLst/>
          </a:prstGeom>
          <a:solidFill>
            <a:srgbClr val="1A253D"/>
          </a:solidFill>
          <a:ln w="25400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879824" y="44348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리랭킹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794224" y="4116628"/>
            <a:ext cx="1170432" cy="32918"/>
          </a:xfrm>
          <a:prstGeom prst="rect">
            <a:avLst/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964656" y="3904487"/>
            <a:ext cx="457200" cy="457200"/>
          </a:xfrm>
          <a:prstGeom prst="ellipse">
            <a:avLst/>
          </a:prstGeom>
          <a:solidFill>
            <a:srgbClr val="1A253D"/>
          </a:solidFill>
          <a:ln w="25400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507456" y="44348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86400"/>
            <a:ext cx="19202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E4002B"/>
                </a:solidFill>
                <a:latin typeface="Calibri"/>
                <a:ea typeface="Malgun Gothic"/>
              </a:rPr>
              <a:t>01</a:t>
            </a:r>
            <a:r>
              <a:rPr sz="1900" b="1" i="0">
                <a:solidFill>
                  <a:srgbClr val="66717E"/>
                </a:solidFill>
                <a:latin typeface="Calibri"/>
                <a:ea typeface="Malgun Gothic"/>
              </a:rPr>
              <a:t>   배경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943600"/>
            <a:ext cx="1965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81F2B"/>
                </a:solidFill>
                <a:latin typeface="Cambria"/>
                <a:ea typeface="Malgun Gothic"/>
              </a:rPr>
              <a:t>왜 메타프롬프팅인가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6903720"/>
            <a:ext cx="6400800" cy="23317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7159752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E4002B"/>
                </a:solidFill>
                <a:latin typeface="Calibri"/>
                <a:ea typeface="Malgun Gothic"/>
              </a:rPr>
              <a:t>문제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7726679"/>
            <a:ext cx="5760720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81F2B"/>
                </a:solidFill>
                <a:latin typeface="Calibri"/>
                <a:ea typeface="Malgun Gothic"/>
              </a:rPr>
              <a:t>짧고 모호한 프롬프트(“정렬 코드 짜줘”)
→ 빗나간 답 → 다시 묻는 비효율
→ 토큰·시간 낭비.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6903720"/>
            <a:ext cx="6400800" cy="233172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7159752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E4002B"/>
                </a:solidFill>
                <a:latin typeface="Calibri"/>
                <a:ea typeface="Malgun Gothic"/>
              </a:rPr>
              <a:t>핵심 통찰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7726679"/>
            <a:ext cx="5760720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FFFFF"/>
                </a:solidFill>
                <a:latin typeface="Calibri"/>
                <a:ea typeface="Malgun Gothic"/>
              </a:rPr>
              <a:t>정답은 “더 비싼 모델”이 아니라
“더 좋은 프롬프트”.
소형 모델도 잘 설계된 프롬프트면 고품질 → 토큰 절감.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538960" y="6903720"/>
            <a:ext cx="6400800" cy="23317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859000" y="7159752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E4002B"/>
                </a:solidFill>
                <a:latin typeface="Calibri"/>
                <a:ea typeface="Malgun Gothic"/>
              </a:rPr>
              <a:t>해법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59000" y="7726679"/>
            <a:ext cx="5760720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81F2B"/>
                </a:solidFill>
                <a:latin typeface="Calibri"/>
                <a:ea typeface="Malgun Gothic"/>
              </a:rPr>
              <a:t>입력과 LLM 사이에 ‘정제 계층’을 끼워 넣되,
미리보기·승인으로 가로막지 않는다.
— “끼어들되 가로막지 않는다”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9555480"/>
            <a:ext cx="19202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E4002B"/>
                </a:solidFill>
                <a:latin typeface="Calibri"/>
                <a:ea typeface="Malgun Gothic"/>
              </a:rPr>
              <a:t>02</a:t>
            </a:r>
            <a:r>
              <a:rPr sz="1900" b="1" i="0">
                <a:solidFill>
                  <a:srgbClr val="66717E"/>
                </a:solidFill>
                <a:latin typeface="Calibri"/>
                <a:ea typeface="Malgun Gothic"/>
              </a:rPr>
              <a:t>   아키텍처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10012680"/>
            <a:ext cx="1965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81F2B"/>
                </a:solidFill>
                <a:latin typeface="Cambria"/>
                <a:ea typeface="Malgun Gothic"/>
              </a:rPr>
              <a:t>전체 구조 — FE 확장 ↔ BE 파이프라인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10835640"/>
            <a:ext cx="6126480" cy="54406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1110996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4002B"/>
                </a:solidFill>
                <a:latin typeface="Calibri"/>
                <a:ea typeface="Malgun Gothic"/>
              </a:rPr>
              <a:t>FRONTEND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81F2B"/>
                </a:solidFill>
                <a:latin typeface="Cambria"/>
                <a:ea typeface="Malgun Gothic"/>
              </a:rPr>
              <a:t>VS Code 확장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25880" y="12161519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12280392"/>
            <a:ext cx="5029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81F2B"/>
                </a:solidFill>
                <a:latin typeface="Calibri"/>
                <a:ea typeface="Malgun Gothic"/>
              </a:rPr>
              <a:t>@refine 참가자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17E"/>
                </a:solidFill>
                <a:latin typeface="Calibri"/>
                <a:ea typeface="Malgun Gothic"/>
              </a:rPr>
              <a:t>정제 미리보기 + 5선택지 승인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5880" y="13240511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13359384"/>
            <a:ext cx="5029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81F2B"/>
                </a:solidFill>
                <a:latin typeface="Calibri"/>
                <a:ea typeface="Malgun Gothic"/>
              </a:rPr>
              <a:t>사이드바 (Webview)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17E"/>
                </a:solidFill>
                <a:latin typeface="Calibri"/>
                <a:ea typeface="Malgun Gothic"/>
              </a:rPr>
              <a:t>원본→정제본 카드 · 검색 · diff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25880" y="14319503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14438376"/>
            <a:ext cx="5029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81F2B"/>
                </a:solidFill>
                <a:latin typeface="Calibri"/>
                <a:ea typeface="Malgun Gothic"/>
              </a:rPr>
              <a:t>로그 (JSONL)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17E"/>
                </a:solidFill>
                <a:latin typeface="Calibri"/>
                <a:ea typeface="Malgun Gothic"/>
              </a:rPr>
              <a:t>observe-YYYY-MM-DD.log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1570939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4002B"/>
                </a:solidFill>
                <a:latin typeface="Calibri"/>
                <a:ea typeface="Malgun Gothic"/>
              </a:rPr>
              <a:t>R-EX-01 ~ 11  ·  순수 JS · 의존성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12915900"/>
            <a:ext cx="868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13601700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HTTP
POST /refine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10835640"/>
            <a:ext cx="12755880" cy="544068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19" y="11109960"/>
            <a:ext cx="1188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4002B"/>
                </a:solidFill>
                <a:latin typeface="Calibri"/>
                <a:ea typeface="Malgun Gothic"/>
              </a:rPr>
              <a:t>BACKEND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  <a:ea typeface="Malgun Gothic"/>
              </a:rPr>
              <a:t>Endpoint (FastAPI) · 메타프롬프팅 파이프라인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49640" y="12161519"/>
            <a:ext cx="2788920" cy="1234440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12252960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Malgun Gothic"/>
              </a:rPr>
              <a:t>1. 정제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  <a:ea typeface="Malgun Gothic"/>
              </a:rPr>
              <a:t>/rewrite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20272" y="12252960"/>
            <a:ext cx="20116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503152" y="12161519"/>
            <a:ext cx="2788920" cy="1234440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503152" y="12252960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Malgun Gothic"/>
              </a:rPr>
              <a:t>2. 검색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  <a:ea typeface="Malgun Gothic"/>
              </a:rPr>
              <a:t>/search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273784" y="12252960"/>
            <a:ext cx="20116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456663" y="12161519"/>
            <a:ext cx="2788920" cy="1234440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456663" y="12252960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Malgun Gothic"/>
              </a:rPr>
              <a:t>3. 리랭킹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  <a:ea typeface="Malgun Gothic"/>
              </a:rPr>
              <a:t>/rerank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227296" y="12252960"/>
            <a:ext cx="20116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410176" y="12161519"/>
            <a:ext cx="2788920" cy="1234440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410176" y="12252960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Malgun Gothic"/>
              </a:rPr>
              <a:t>4. 생성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  <a:ea typeface="Malgun Gothic"/>
              </a:rPr>
              <a:t>/generate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49640" y="13670280"/>
            <a:ext cx="5989320" cy="2286000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23959" y="1389888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4002B"/>
                </a:solidFill>
                <a:latin typeface="Calibri"/>
                <a:ea typeface="Malgun Gothic"/>
              </a:rPr>
              <a:t>AI Infra — vLLM 서빙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· LLM  Qwen3.6-35B-A3B (AWQ 4-bit)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· Embedding  Qwen3-Embedding-8B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· Reranker  Qwen3-Reranker-4B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721840" y="13670280"/>
            <a:ext cx="5852160" cy="2286000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996159" y="13898880"/>
            <a:ext cx="5349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4002B"/>
                </a:solidFill>
                <a:latin typeface="Calibri"/>
                <a:ea typeface="Malgun Gothic"/>
              </a:rPr>
              <a:t>Vector DB — Chroma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· 651개 고품질 프롬프트 템플릿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· 4096차원 임베딩 (Qwen3-8B)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· Top-20 → Reranker → Top-3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16596359"/>
            <a:ext cx="19202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E4002B"/>
                </a:solidFill>
                <a:latin typeface="Calibri"/>
                <a:ea typeface="Malgun Gothic"/>
              </a:rPr>
              <a:t>03</a:t>
            </a:r>
            <a:r>
              <a:rPr sz="1900" b="1" i="0">
                <a:solidFill>
                  <a:srgbClr val="66717E"/>
                </a:solidFill>
                <a:latin typeface="Calibri"/>
                <a:ea typeface="Malgun Gothic"/>
              </a:rPr>
              <a:t>   파이프라인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" y="17053560"/>
            <a:ext cx="1965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81F2B"/>
                </a:solidFill>
                <a:latin typeface="Cambria"/>
                <a:ea typeface="Malgun Gothic"/>
              </a:rPr>
              <a:t>정제는 어떻게 일어나는가 — 4단계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5840" y="17876520"/>
            <a:ext cx="4743450" cy="23317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298448" y="18150840"/>
            <a:ext cx="566928" cy="56692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98448" y="181325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ea typeface="Malgun Gothic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11680" y="18187416"/>
            <a:ext cx="355473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81F2B"/>
                </a:solidFill>
                <a:latin typeface="Cambria"/>
                <a:ea typeface="Malgun Gothic"/>
              </a:rPr>
              <a:t>LLM 정제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98448" y="18900648"/>
            <a:ext cx="1554480" cy="411480"/>
          </a:xfrm>
          <a:prstGeom prst="roundRect">
            <a:avLst>
              <a:gd name="adj" fmla="val 3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98448" y="18900648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/rewrite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98448" y="19449288"/>
            <a:ext cx="417652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6717E"/>
                </a:solidFill>
                <a:latin typeface="Calibri"/>
                <a:ea typeface="Malgun Gothic"/>
              </a:rPr>
              <a:t>모호한 입력을 명료한 영어 프롬프트로 재작성. 의도 보존.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31002" y="18150840"/>
            <a:ext cx="301752" cy="17830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069329" y="17876520"/>
            <a:ext cx="4743450" cy="23317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361938" y="18150840"/>
            <a:ext cx="566928" cy="56692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61938" y="181325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ea typeface="Malgun Gothic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75169" y="18187416"/>
            <a:ext cx="355473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81F2B"/>
                </a:solidFill>
                <a:latin typeface="Cambria"/>
                <a:ea typeface="Malgun Gothic"/>
              </a:rPr>
              <a:t>벡터 검색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61938" y="18900648"/>
            <a:ext cx="1554480" cy="411480"/>
          </a:xfrm>
          <a:prstGeom prst="roundRect">
            <a:avLst>
              <a:gd name="adj" fmla="val 3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61938" y="18900648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/search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61938" y="19449288"/>
            <a:ext cx="417652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6717E"/>
                </a:solidFill>
                <a:latin typeface="Calibri"/>
                <a:ea typeface="Malgun Gothic"/>
              </a:rPr>
              <a:t>재작성본을 임베딩해 Chroma 코사인 유사도 Top-20 검색.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94492" y="18150840"/>
            <a:ext cx="301752" cy="17830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1132819" y="17876520"/>
            <a:ext cx="4743450" cy="23317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425428" y="18150840"/>
            <a:ext cx="566928" cy="56692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25428" y="181325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ea typeface="Malgun Gothic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38659" y="18187416"/>
            <a:ext cx="355473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81F2B"/>
                </a:solidFill>
                <a:latin typeface="Cambria"/>
                <a:ea typeface="Malgun Gothic"/>
              </a:rPr>
              <a:t>리랭킹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425428" y="18900648"/>
            <a:ext cx="1554480" cy="411480"/>
          </a:xfrm>
          <a:prstGeom prst="roundRect">
            <a:avLst>
              <a:gd name="adj" fmla="val 3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425428" y="18900648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/rerank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425428" y="19449288"/>
            <a:ext cx="417652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6717E"/>
                </a:solidFill>
                <a:latin typeface="Calibri"/>
                <a:ea typeface="Malgun Gothic"/>
              </a:rPr>
              <a:t>Reranker로 의미 적합성 재점수화 → 최종 Top-3 선별.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5857981" y="18150840"/>
            <a:ext cx="301752" cy="17830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6196309" y="17876520"/>
            <a:ext cx="4743450" cy="23317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6488917" y="18150840"/>
            <a:ext cx="566928" cy="56692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6488917" y="181325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ea typeface="Malgun Gothic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202150" y="18187416"/>
            <a:ext cx="355473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81F2B"/>
                </a:solidFill>
                <a:latin typeface="Cambria"/>
                <a:ea typeface="Malgun Gothic"/>
              </a:rPr>
              <a:t>LLM 최종 생성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6488917" y="18900648"/>
            <a:ext cx="1554480" cy="411480"/>
          </a:xfrm>
          <a:prstGeom prst="roundRect">
            <a:avLst>
              <a:gd name="adj" fmla="val 3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6488917" y="18900648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/generate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488917" y="19449288"/>
            <a:ext cx="417652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6717E"/>
                </a:solidFill>
                <a:latin typeface="Calibri"/>
                <a:ea typeface="Malgun Gothic"/>
              </a:rPr>
              <a:t>Top-3 중 최적 선택 + 원본 의도로 최종 프롬프트 합성.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05840" y="20802600"/>
            <a:ext cx="9784080" cy="6400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371600" y="21095208"/>
            <a:ext cx="9052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81F2B"/>
                </a:solidFill>
                <a:latin typeface="Cambria"/>
                <a:ea typeface="Malgun Gothic"/>
              </a:rPr>
              <a:t>@refine UX — 5가지 승인 선택지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371600" y="21762720"/>
            <a:ext cx="9052559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554480" y="21817584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A80020"/>
                </a:solidFill>
                <a:latin typeface="Calibri"/>
                <a:ea typeface="Malgun Gothic"/>
              </a:rPr>
              <a:t>✓ 전송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69080" y="21817584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6717E"/>
                </a:solidFill>
                <a:latin typeface="Calibri"/>
                <a:ea typeface="Malgun Gothic"/>
              </a:rPr>
              <a:t>정제본 자동 전송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55480" y="21817584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9E57"/>
                </a:solidFill>
                <a:latin typeface="Calibri"/>
                <a:ea typeface="Malgun Gothic"/>
              </a:rPr>
              <a:t>기록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371600" y="22439376"/>
            <a:ext cx="9052559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54480" y="22494239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A80020"/>
                </a:solidFill>
                <a:latin typeface="Calibri"/>
                <a:ea typeface="Malgun Gothic"/>
              </a:rPr>
              <a:t>✎ 수정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69080" y="22494239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6717E"/>
                </a:solidFill>
                <a:latin typeface="Calibri"/>
                <a:ea typeface="Malgun Gothic"/>
              </a:rPr>
              <a:t>정제본을 입력창에 채워 편집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555480" y="22494239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AE"/>
                </a:solidFill>
                <a:latin typeface="Calibri"/>
                <a:ea typeface="Malgun Gothic"/>
              </a:rPr>
              <a:t>—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371600" y="23116031"/>
            <a:ext cx="9052559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554480" y="23170895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A80020"/>
                </a:solidFill>
                <a:latin typeface="Calibri"/>
                <a:ea typeface="Malgun Gothic"/>
              </a:rPr>
              <a:t>↻ 다시 정제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69080" y="23170895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6717E"/>
                </a:solidFill>
                <a:latin typeface="Calibri"/>
                <a:ea typeface="Malgun Gothic"/>
              </a:rPr>
              <a:t>동일 원본으로 재정제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555480" y="23170895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AE"/>
                </a:solidFill>
                <a:latin typeface="Calibri"/>
                <a:ea typeface="Malgun Gothic"/>
              </a:rPr>
              <a:t>—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371600" y="23792687"/>
            <a:ext cx="9052559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54480" y="23847551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A80020"/>
                </a:solidFill>
                <a:latin typeface="Calibri"/>
                <a:ea typeface="Malgun Gothic"/>
              </a:rPr>
              <a:t>→ 원본 전송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69080" y="23847551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6717E"/>
                </a:solidFill>
                <a:latin typeface="Calibri"/>
                <a:ea typeface="Malgun Gothic"/>
              </a:rPr>
              <a:t>정제 없이 원본 전송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555480" y="23847551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AE"/>
                </a:solidFill>
                <a:latin typeface="Calibri"/>
                <a:ea typeface="Malgun Gothic"/>
              </a:rPr>
              <a:t>—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371600" y="24469343"/>
            <a:ext cx="9052559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554480" y="24524207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A80020"/>
                </a:solidFill>
                <a:latin typeface="Calibri"/>
                <a:ea typeface="Malgun Gothic"/>
              </a:rPr>
              <a:t>✕ 취소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69080" y="24524207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6717E"/>
                </a:solidFill>
                <a:latin typeface="Calibri"/>
                <a:ea typeface="Malgun Gothic"/>
              </a:rPr>
              <a:t>@refine 원본을 입력창에 복원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555480" y="24524207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AE"/>
                </a:solidFill>
                <a:latin typeface="Calibri"/>
                <a:ea typeface="Malgun Gothic"/>
              </a:rPr>
              <a:t>—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371600" y="25219151"/>
            <a:ext cx="9052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81F2B"/>
                </a:solidFill>
                <a:latin typeface="Calibri"/>
                <a:ea typeface="Malgun Gothic"/>
              </a:rPr>
              <a:t>설계 불변식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371600" y="25712927"/>
            <a:ext cx="1627632" cy="457200"/>
          </a:xfrm>
          <a:prstGeom prst="roundRect">
            <a:avLst>
              <a:gd name="adj" fmla="val 35000"/>
            </a:avLst>
          </a:prstGeom>
          <a:solidFill>
            <a:srgbClr val="E7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371600" y="25712927"/>
            <a:ext cx="16276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F2B"/>
                </a:solidFill>
                <a:latin typeface="Calibri"/>
                <a:ea typeface="Malgun Gothic"/>
              </a:rPr>
              <a:t>fail-open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182112" y="25712927"/>
            <a:ext cx="1645920" cy="457200"/>
          </a:xfrm>
          <a:prstGeom prst="roundRect">
            <a:avLst>
              <a:gd name="adj" fmla="val 35000"/>
            </a:avLst>
          </a:prstGeom>
          <a:solidFill>
            <a:srgbClr val="E7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182112" y="25712927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F2B"/>
                </a:solidFill>
                <a:latin typeface="Calibri"/>
                <a:ea typeface="Malgun Gothic"/>
              </a:rPr>
              <a:t>명시 호출만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010912" y="25712927"/>
            <a:ext cx="1645920" cy="457200"/>
          </a:xfrm>
          <a:prstGeom prst="roundRect">
            <a:avLst>
              <a:gd name="adj" fmla="val 35000"/>
            </a:avLst>
          </a:prstGeom>
          <a:solidFill>
            <a:srgbClr val="E7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10912" y="25712927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F2B"/>
                </a:solidFill>
                <a:latin typeface="Calibri"/>
                <a:ea typeface="Malgun Gothic"/>
              </a:rPr>
              <a:t>승인 게이트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839712" y="25712927"/>
            <a:ext cx="2084832" cy="457200"/>
          </a:xfrm>
          <a:prstGeom prst="roundRect">
            <a:avLst>
              <a:gd name="adj" fmla="val 35000"/>
            </a:avLst>
          </a:prstGeom>
          <a:solidFill>
            <a:srgbClr val="E7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839712" y="25712927"/>
            <a:ext cx="2084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F2B"/>
                </a:solidFill>
                <a:latin typeface="Calibri"/>
                <a:ea typeface="Malgun Gothic"/>
              </a:rPr>
              <a:t>의존성 0(FE)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371600" y="26279855"/>
            <a:ext cx="1938528" cy="457200"/>
          </a:xfrm>
          <a:prstGeom prst="roundRect">
            <a:avLst>
              <a:gd name="adj" fmla="val 35000"/>
            </a:avLst>
          </a:prstGeom>
          <a:solidFill>
            <a:srgbClr val="E7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371600" y="26279855"/>
            <a:ext cx="1938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F2B"/>
                </a:solidFill>
                <a:latin typeface="Calibri"/>
                <a:ea typeface="Malgun Gothic"/>
              </a:rPr>
              <a:t>JSONL 동결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493008" y="26279855"/>
            <a:ext cx="1645920" cy="457200"/>
          </a:xfrm>
          <a:prstGeom prst="roundRect">
            <a:avLst>
              <a:gd name="adj" fmla="val 35000"/>
            </a:avLst>
          </a:prstGeom>
          <a:solidFill>
            <a:srgbClr val="E7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493008" y="26279855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F2B"/>
                </a:solidFill>
                <a:latin typeface="Calibri"/>
                <a:ea typeface="Malgun Gothic"/>
              </a:rPr>
              <a:t>데이터 보존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1155680" y="20802600"/>
            <a:ext cx="9784080" cy="6400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521440" y="21095208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81F2B"/>
                </a:solidFill>
                <a:latin typeface="Cambria"/>
                <a:ea typeface="Malgun Gothic"/>
              </a:rPr>
              <a:t>기술 스택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1521440" y="21717000"/>
            <a:ext cx="2852928" cy="566928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521440" y="21717000"/>
            <a:ext cx="2852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FRONTEND</a:t>
            </a:r>
          </a:p>
        </p:txBody>
      </p:sp>
      <p:sp>
        <p:nvSpPr>
          <p:cNvPr id="132" name="Oval 131"/>
          <p:cNvSpPr/>
          <p:nvPr/>
        </p:nvSpPr>
        <p:spPr>
          <a:xfrm>
            <a:off x="11567160" y="2256739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777472" y="2247595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VS Code Extension API</a:t>
            </a:r>
          </a:p>
        </p:txBody>
      </p:sp>
      <p:sp>
        <p:nvSpPr>
          <p:cNvPr id="134" name="Oval 133"/>
          <p:cNvSpPr/>
          <p:nvPr/>
        </p:nvSpPr>
        <p:spPr>
          <a:xfrm>
            <a:off x="11567160" y="23134320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1777472" y="230428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Chat Participant API</a:t>
            </a:r>
          </a:p>
        </p:txBody>
      </p:sp>
      <p:sp>
        <p:nvSpPr>
          <p:cNvPr id="136" name="Oval 135"/>
          <p:cNvSpPr/>
          <p:nvPr/>
        </p:nvSpPr>
        <p:spPr>
          <a:xfrm>
            <a:off x="11567160" y="23701248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777472" y="2360980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WebviewView + CSP</a:t>
            </a:r>
          </a:p>
        </p:txBody>
      </p:sp>
      <p:sp>
        <p:nvSpPr>
          <p:cNvPr id="138" name="Oval 137"/>
          <p:cNvSpPr/>
          <p:nvPr/>
        </p:nvSpPr>
        <p:spPr>
          <a:xfrm>
            <a:off x="11567160" y="24268176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777472" y="24176736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Node http/https/fs</a:t>
            </a:r>
          </a:p>
        </p:txBody>
      </p:sp>
      <p:sp>
        <p:nvSpPr>
          <p:cNvPr id="140" name="Oval 139"/>
          <p:cNvSpPr/>
          <p:nvPr/>
        </p:nvSpPr>
        <p:spPr>
          <a:xfrm>
            <a:off x="11567160" y="24835104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777472" y="24743664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JSONL · @vscode/vsce</a:t>
            </a:r>
          </a:p>
        </p:txBody>
      </p:sp>
      <p:sp>
        <p:nvSpPr>
          <p:cNvPr id="142" name="Oval 141"/>
          <p:cNvSpPr/>
          <p:nvPr/>
        </p:nvSpPr>
        <p:spPr>
          <a:xfrm>
            <a:off x="11567160" y="2540203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1777472" y="2531059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런타임 의존성 0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4538960" y="21717000"/>
            <a:ext cx="2852928" cy="566928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4538960" y="21717000"/>
            <a:ext cx="2852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BACKEND</a:t>
            </a:r>
          </a:p>
        </p:txBody>
      </p:sp>
      <p:sp>
        <p:nvSpPr>
          <p:cNvPr id="146" name="Oval 145"/>
          <p:cNvSpPr/>
          <p:nvPr/>
        </p:nvSpPr>
        <p:spPr>
          <a:xfrm>
            <a:off x="14584680" y="2256739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4794992" y="2247595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FastAPI · uvicorn</a:t>
            </a:r>
          </a:p>
        </p:txBody>
      </p:sp>
      <p:sp>
        <p:nvSpPr>
          <p:cNvPr id="148" name="Oval 147"/>
          <p:cNvSpPr/>
          <p:nvPr/>
        </p:nvSpPr>
        <p:spPr>
          <a:xfrm>
            <a:off x="14584680" y="23134320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4794992" y="230428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requests</a:t>
            </a:r>
          </a:p>
        </p:txBody>
      </p:sp>
      <p:sp>
        <p:nvSpPr>
          <p:cNvPr id="150" name="Oval 149"/>
          <p:cNvSpPr/>
          <p:nvPr/>
        </p:nvSpPr>
        <p:spPr>
          <a:xfrm>
            <a:off x="14584680" y="23701248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4794992" y="2360980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ChromaDB 1.5</a:t>
            </a:r>
          </a:p>
        </p:txBody>
      </p:sp>
      <p:sp>
        <p:nvSpPr>
          <p:cNvPr id="152" name="Oval 151"/>
          <p:cNvSpPr/>
          <p:nvPr/>
        </p:nvSpPr>
        <p:spPr>
          <a:xfrm>
            <a:off x="14584680" y="24268176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4794992" y="24176736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OpenAI SDK 2.44</a:t>
            </a:r>
          </a:p>
        </p:txBody>
      </p:sp>
      <p:sp>
        <p:nvSpPr>
          <p:cNvPr id="154" name="Oval 153"/>
          <p:cNvSpPr/>
          <p:nvPr/>
        </p:nvSpPr>
        <p:spPr>
          <a:xfrm>
            <a:off x="14584680" y="24835104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4794992" y="24743664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scikit-learn (viz)</a:t>
            </a:r>
          </a:p>
        </p:txBody>
      </p:sp>
      <p:sp>
        <p:nvSpPr>
          <p:cNvPr id="156" name="Oval 155"/>
          <p:cNvSpPr/>
          <p:nvPr/>
        </p:nvSpPr>
        <p:spPr>
          <a:xfrm>
            <a:off x="14584680" y="2540203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4794992" y="2531059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버전 핀 고정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7556480" y="21717000"/>
            <a:ext cx="2852928" cy="566928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7556480" y="21717000"/>
            <a:ext cx="2852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AI / INFRA</a:t>
            </a:r>
          </a:p>
        </p:txBody>
      </p:sp>
      <p:sp>
        <p:nvSpPr>
          <p:cNvPr id="160" name="Oval 159"/>
          <p:cNvSpPr/>
          <p:nvPr/>
        </p:nvSpPr>
        <p:spPr>
          <a:xfrm>
            <a:off x="17602200" y="2256739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7812512" y="2247595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vLLM 0.19.1</a:t>
            </a:r>
          </a:p>
        </p:txBody>
      </p:sp>
      <p:sp>
        <p:nvSpPr>
          <p:cNvPr id="162" name="Oval 161"/>
          <p:cNvSpPr/>
          <p:nvPr/>
        </p:nvSpPr>
        <p:spPr>
          <a:xfrm>
            <a:off x="17602200" y="23134320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7812512" y="230428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Qwen3.6-35B (AWQ)</a:t>
            </a:r>
          </a:p>
        </p:txBody>
      </p:sp>
      <p:sp>
        <p:nvSpPr>
          <p:cNvPr id="164" name="Oval 163"/>
          <p:cNvSpPr/>
          <p:nvPr/>
        </p:nvSpPr>
        <p:spPr>
          <a:xfrm>
            <a:off x="17602200" y="23701248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7812512" y="2360980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Qwen3-Embedding-8B</a:t>
            </a:r>
          </a:p>
        </p:txBody>
      </p:sp>
      <p:sp>
        <p:nvSpPr>
          <p:cNvPr id="166" name="Oval 165"/>
          <p:cNvSpPr/>
          <p:nvPr/>
        </p:nvSpPr>
        <p:spPr>
          <a:xfrm>
            <a:off x="17602200" y="24268176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7812512" y="24176736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Qwen3-Reranker-4B</a:t>
            </a:r>
          </a:p>
        </p:txBody>
      </p:sp>
      <p:sp>
        <p:nvSpPr>
          <p:cNvPr id="168" name="Oval 167"/>
          <p:cNvSpPr/>
          <p:nvPr/>
        </p:nvSpPr>
        <p:spPr>
          <a:xfrm>
            <a:off x="17602200" y="24835104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7812512" y="24743664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OpenAI 호환 /v1/*</a:t>
            </a:r>
          </a:p>
        </p:txBody>
      </p:sp>
      <p:sp>
        <p:nvSpPr>
          <p:cNvPr id="170" name="Oval 169"/>
          <p:cNvSpPr/>
          <p:nvPr/>
        </p:nvSpPr>
        <p:spPr>
          <a:xfrm>
            <a:off x="17602200" y="2540203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7812512" y="2531059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F2B"/>
                </a:solidFill>
                <a:latin typeface="Calibri"/>
                <a:ea typeface="Malgun Gothic"/>
              </a:rPr>
              <a:t>로컬 GPU / RunPod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-91440" y="27477720"/>
            <a:ext cx="22128480" cy="3749039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188720" y="277977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4002B"/>
                </a:solidFill>
                <a:latin typeface="Calibri"/>
                <a:ea typeface="Malgun Gothic"/>
              </a:rPr>
              <a:t>결과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43000" y="28190952"/>
            <a:ext cx="19202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  <a:ea typeface="Malgun Gothic"/>
              </a:rPr>
              <a:t>요구사항 분석 → 설계 → 구현 → 테스트 → 실행까지 전 사이클 완결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005840" y="29077920"/>
            <a:ext cx="4743450" cy="1600200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97280" y="29260800"/>
            <a:ext cx="456057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4002B"/>
                </a:solidFill>
                <a:latin typeface="Cambria"/>
                <a:ea typeface="Malgun Gothic"/>
              </a:rPr>
              <a:t>7 / 30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97280" y="30147768"/>
            <a:ext cx="456057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모듈 / 요구사항 구현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069329" y="29077920"/>
            <a:ext cx="4743450" cy="1600200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160769" y="29260800"/>
            <a:ext cx="456057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4002B"/>
                </a:solidFill>
                <a:latin typeface="Cambria"/>
                <a:ea typeface="Malgun Gothic"/>
              </a:rPr>
              <a:t>25 / 25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160769" y="30147768"/>
            <a:ext cx="456057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단위 테스트 통과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1132819" y="29077920"/>
            <a:ext cx="4743450" cy="1600200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1224259" y="29260800"/>
            <a:ext cx="456057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4002B"/>
                </a:solidFill>
                <a:latin typeface="Cambria"/>
                <a:ea typeface="Malgun Gothic"/>
              </a:rPr>
              <a:t>651 · 4096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224259" y="30147768"/>
            <a:ext cx="456057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템플릿 · 임베딩 차원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6196309" y="29077920"/>
            <a:ext cx="4743450" cy="1600200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6287750" y="29260800"/>
            <a:ext cx="456057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4002B"/>
                </a:solidFill>
                <a:latin typeface="Cambria"/>
                <a:ea typeface="Malgun Gothic"/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6287750" y="30147768"/>
            <a:ext cx="456057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  <a:ea typeface="Malgun Gothic"/>
              </a:rPr>
              <a:t>FE 런타임 의존성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05840" y="31409640"/>
            <a:ext cx="1993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81F2B"/>
                </a:solidFill>
                <a:latin typeface="Cambria"/>
                <a:ea typeface="Malgun Gothic"/>
              </a:rPr>
              <a:t>Copilot Meta-Prompting</a:t>
            </a:r>
            <a:r>
              <a:rPr sz="1400" b="0" i="0">
                <a:solidFill>
                  <a:srgbClr val="66717E"/>
                </a:solidFill>
                <a:latin typeface="Calibri"/>
                <a:ea typeface="Malgun Gothic"/>
              </a:rPr>
              <a:t>    ·    SW Bootcamp 13기 C반 4팀    ·    github.com/swbteng/copilot-meta-prompting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
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7559675" cy="10691813"/>
  <p:notesSz cx="6858000" cy="9144000"/>
  <p:embeddedFontLst>
    <p:embeddedFont>
      <p:font typeface="Malgun Gothic" panose="020B0503020000020004" pitchFamily="50" charset="-127"/>
      <p:regular r:id="rId6"/>
      <p:bold r:id="rId7"/>
    </p:embeddedFont>
    <p:embeddedFont>
      <p:font typeface="Calibri" panose="020F0502020204030204" pitchFamily="34" charset="0"/>
      <p:regular r:id="rId8"/>
      <p:bold r:id="rId9"/>
      <p:italic r:id="rId10"/>
      <p:boldItalic r:id="rId11"/>
    </p:embeddedFont>
    <p:embeddedFont>
      <p:font typeface="Cambria" panose="02040503050406030204" pitchFamily="18" charset="0"/>
      <p:regular r:id="rId12"/>
      <p:bold r:id="rId13"/>
      <p:italic r:id="rId14"/>
      <p:boldItalic r:id="rId15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3.fntdata"/><Relationship Id="rId13" Type="http://schemas.openxmlformats.org/officeDocument/2006/relationships/font" Target="fonts/font8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font" Target="fonts/font2.fntdata"/><Relationship Id="rId12" Type="http://schemas.openxmlformats.org/officeDocument/2006/relationships/font" Target="fonts/font7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1.fntdata"/><Relationship Id="rId11" Type="http://schemas.openxmlformats.org/officeDocument/2006/relationships/font" Target="fonts/font6.fntdata"/><Relationship Id="rId5" Type="http://schemas.openxmlformats.org/officeDocument/2006/relationships/slide" Target="slides/slide4.xml"/><Relationship Id="rId15" Type="http://schemas.openxmlformats.org/officeDocument/2006/relationships/font" Target="fonts/font10.fntdata"/><Relationship Id="rId10" Type="http://schemas.openxmlformats.org/officeDocument/2006/relationships/font" Target="fonts/font5.fntdata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font" Target="fonts/font4.fntdata"/><Relationship Id="rId14" Type="http://schemas.openxmlformats.org/officeDocument/2006/relationships/font" Target="fonts/font9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559984" cy="3493008"/>
          </a:xfrm>
          <a:prstGeom prst="rect">
            <a:avLst/>
          </a:prstGeom>
          <a:solidFill>
            <a:srgbClr val="0F1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6645584" cy="274320"/>
          </a:xfrm>
          <a:prstGeom prst="rect">
            <a:avLst/>
          </a:prstGeom>
          <a:noFill/>
        </p:spPr>
        <p:txBody>
          <a:bodyPr wrap="square" lIns="73152" tIns="0" rIns="73152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 spc="120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SW BOOTCAMP 13기   ·   C반 4팀   ·   프로젝트 요약 포스터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768096"/>
            <a:ext cx="6645584" cy="868680"/>
          </a:xfrm>
          <a:prstGeom prst="rect">
            <a:avLst/>
          </a:prstGeom>
          <a:noFill/>
        </p:spPr>
        <p:txBody>
          <a:bodyPr wrap="square" lIns="73152" tIns="0" rIns="73152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4100" b="1" i="0">
                <a:solidFill>
                  <a:srgbClr val="FFFFFF"/>
                </a:solidFill>
                <a:latin typeface="Cambria"/>
                <a:ea typeface="Malgun Gothic"/>
                <a:cs typeface="Cambria"/>
              </a:rPr>
              <a:t>Copilot </a:t>
            </a:r>
            <a:r>
              <a:rPr sz="4100" b="1" i="0">
                <a:solidFill>
                  <a:srgbClr val="E4002B"/>
                </a:solidFill>
                <a:latin typeface="Cambria"/>
                <a:ea typeface="Malgun Gothic"/>
                <a:cs typeface="Cambria"/>
              </a:rPr>
              <a:t>Meta-Prompting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27632"/>
            <a:ext cx="6645584" cy="384048"/>
          </a:xfrm>
          <a:prstGeom prst="rect">
            <a:avLst/>
          </a:prstGeom>
          <a:noFill/>
        </p:spPr>
        <p:txBody>
          <a:bodyPr wrap="square" lIns="73152" tIns="0" rIns="73152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Copilot Chat 프롬프트를 가로채 자동 정제하는 메타프롬프팅 시스템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139696"/>
            <a:ext cx="6645584" cy="548640"/>
          </a:xfrm>
          <a:prstGeom prst="roundRect">
            <a:avLst>
              <a:gd name="adj" fmla="val 9000"/>
            </a:avLst>
          </a:prstGeom>
          <a:solidFill>
            <a:srgbClr val="2330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2139696"/>
            <a:ext cx="6279824" cy="548640"/>
          </a:xfrm>
          <a:prstGeom prst="rect">
            <a:avLst/>
          </a:prstGeom>
          <a:noFill/>
        </p:spPr>
        <p:txBody>
          <a:bodyPr wrap="square" lIns="73152" tIns="0" rIns="73152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E4002B"/>
                </a:solidFill>
                <a:latin typeface="Cambria"/>
                <a:ea typeface="Malgun Gothic"/>
                <a:cs typeface="Cambria"/>
              </a:rPr>
              <a:t>@refine</a:t>
            </a:r>
            <a:r>
              <a:rPr sz="1250" b="0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 — 거친 한 줄 질문을, 검증된 고품질 프롬프트로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798064"/>
            <a:ext cx="1318496" cy="402336"/>
          </a:xfrm>
          <a:prstGeom prst="roundRect">
            <a:avLst>
              <a:gd name="adj" fmla="val 50000"/>
            </a:avLst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2798064"/>
            <a:ext cx="1318496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정제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75696" y="2798064"/>
            <a:ext cx="45720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E4002B"/>
                </a:solidFill>
                <a:latin typeface="Cambria"/>
                <a:ea typeface="Malgun Gothic"/>
                <a:cs typeface="Cambria"/>
              </a:rPr>
              <a:t>›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232896" y="2798064"/>
            <a:ext cx="1318496" cy="402336"/>
          </a:xfrm>
          <a:prstGeom prst="roundRect">
            <a:avLst>
              <a:gd name="adj" fmla="val 50000"/>
            </a:avLst>
          </a:prstGeom>
          <a:solidFill>
            <a:srgbClr val="2330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232896" y="2798064"/>
            <a:ext cx="1318496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검색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51392" y="2798064"/>
            <a:ext cx="45720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E4002B"/>
                </a:solidFill>
                <a:latin typeface="Cambria"/>
                <a:ea typeface="Malgun Gothic"/>
                <a:cs typeface="Cambria"/>
              </a:rP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008592" y="2798064"/>
            <a:ext cx="1318496" cy="402336"/>
          </a:xfrm>
          <a:prstGeom prst="roundRect">
            <a:avLst>
              <a:gd name="adj" fmla="val 50000"/>
            </a:avLst>
          </a:prstGeom>
          <a:solidFill>
            <a:srgbClr val="2330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008592" y="2798064"/>
            <a:ext cx="1318496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리랭킹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27088" y="2798064"/>
            <a:ext cx="45720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E4002B"/>
                </a:solidFill>
                <a:latin typeface="Cambria"/>
                <a:ea typeface="Malgun Gothic"/>
                <a:cs typeface="Cambria"/>
              </a:rPr>
              <a:t>›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784288" y="2798064"/>
            <a:ext cx="1318496" cy="402336"/>
          </a:xfrm>
          <a:prstGeom prst="roundRect">
            <a:avLst>
              <a:gd name="adj" fmla="val 50000"/>
            </a:avLst>
          </a:prstGeom>
          <a:solidFill>
            <a:srgbClr val="2330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784288" y="2798064"/>
            <a:ext cx="1318496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생성</a:t>
            </a:r>
          </a:p>
        </p:txBody>
      </p:sp>
      <p:sp>
        <p:nvSpPr>
          <p:cNvPr id="19" name="Oval 18"/>
          <p:cNvSpPr/>
          <p:nvPr/>
        </p:nvSpPr>
        <p:spPr>
          <a:xfrm>
            <a:off x="457200" y="3675887"/>
            <a:ext cx="420624" cy="420624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mbria"/>
                <a:ea typeface="Malgun Gothic"/>
                <a:cs typeface="Cambria"/>
              </a:rPr>
              <a:t>01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3639311"/>
            <a:ext cx="6042080" cy="256032"/>
          </a:xfrm>
          <a:prstGeom prst="rect">
            <a:avLst/>
          </a:prstGeom>
          <a:noFill/>
        </p:spPr>
        <p:txBody>
          <a:bodyPr wrap="square" lIns="73152" tIns="0" rIns="73152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 spc="60">
                <a:solidFill>
                  <a:srgbClr val="E4002B"/>
                </a:solidFill>
                <a:latin typeface="Malgun Gothic"/>
                <a:ea typeface="Malgun Gothic"/>
                <a:cs typeface="Malgun Gothic"/>
              </a:rPr>
              <a:t>배경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3822191"/>
            <a:ext cx="6042080" cy="365760"/>
          </a:xfrm>
          <a:prstGeom prst="rect">
            <a:avLst/>
          </a:prstGeom>
          <a:noFill/>
        </p:spPr>
        <p:txBody>
          <a:bodyPr wrap="square" lIns="73152" tIns="0" rIns="73152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 i="0">
                <a:solidFill>
                  <a:srgbClr val="181F2B"/>
                </a:solidFill>
                <a:latin typeface="Malgun Gothic"/>
                <a:ea typeface="Malgun Gothic"/>
                <a:cs typeface="Malgun Gothic"/>
              </a:rPr>
              <a:t>왜 메타프롬프팅인가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4261104"/>
            <a:ext cx="6645584" cy="1417320"/>
          </a:xfrm>
          <a:prstGeom prst="roundRect">
            <a:avLst>
              <a:gd name="adj" fmla="val 5000"/>
            </a:avLst>
          </a:prstGeom>
          <a:solidFill>
            <a:srgbClr val="F3F5F8"/>
          </a:solidFill>
          <a:ln w="12700">
            <a:solidFill>
              <a:srgbClr val="E7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58368" y="4407408"/>
            <a:ext cx="6243248" cy="1143000"/>
          </a:xfrm>
          <a:prstGeom prst="rect">
            <a:avLst/>
          </a:prstGeom>
          <a:noFill/>
        </p:spPr>
        <p:txBody>
          <a:bodyPr wrap="square" lIns="73152" tIns="0" rIns="73152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50" b="1" i="0">
                <a:solidFill>
                  <a:srgbClr val="E4002B"/>
                </a:solidFill>
                <a:latin typeface="Malgun Gothic"/>
                <a:ea typeface="Malgun Gothic"/>
                <a:cs typeface="Malgun Gothic"/>
              </a:rPr>
              <a:t>문제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150" b="0" i="0">
                <a:solidFill>
                  <a:srgbClr val="181F2B"/>
                </a:solidFill>
                <a:latin typeface="Malgun Gothic"/>
                <a:ea typeface="Malgun Gothic"/>
                <a:cs typeface="Malgun Gothic"/>
              </a:rPr>
              <a:t>짧고 모호한 프롬프트(“정렬 코드 짜줘”) → 빗나간 답 → 다시 묻는 비효율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150" b="0" i="0">
                <a:solidFill>
                  <a:srgbClr val="181F2B"/>
                </a:solidFill>
                <a:latin typeface="Malgun Gothic"/>
                <a:ea typeface="Malgun Gothic"/>
                <a:cs typeface="Malgun Gothic"/>
              </a:rPr>
              <a:t>토큰·시간 낭비로 이어진다.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5815584"/>
            <a:ext cx="6645584" cy="1417320"/>
          </a:xfrm>
          <a:prstGeom prst="roundRect">
            <a:avLst>
              <a:gd name="adj" fmla="val 5000"/>
            </a:avLst>
          </a:prstGeom>
          <a:solidFill>
            <a:srgbClr val="1A25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58368" y="5961888"/>
            <a:ext cx="6243248" cy="1188720"/>
          </a:xfrm>
          <a:prstGeom prst="rect">
            <a:avLst/>
          </a:prstGeom>
          <a:noFill/>
        </p:spPr>
        <p:txBody>
          <a:bodyPr wrap="square" lIns="73152" tIns="0" rIns="73152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50" b="1" i="0">
                <a:solidFill>
                  <a:srgbClr val="E4002B"/>
                </a:solidFill>
                <a:latin typeface="Malgun Gothic"/>
                <a:ea typeface="Malgun Gothic"/>
                <a:cs typeface="Malgun Gothic"/>
              </a:rPr>
              <a:t>핵심 통찰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00" b="0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정답은 </a:t>
            </a:r>
            <a:r>
              <a:rPr sz="1200" b="1" i="0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“더 비싼 모델”</a:t>
            </a:r>
            <a:r>
              <a:rPr sz="1200" b="0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이 아니라 </a:t>
            </a:r>
            <a:r>
              <a:rPr sz="1200" b="1" i="0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“더 좋은 프롬프트”</a:t>
            </a:r>
            <a:r>
              <a:rPr sz="1200" b="0" i="0">
                <a:solidFill>
                  <a:srgbClr val="FFFFFF"/>
                </a:solidFill>
                <a:latin typeface="Calibri"/>
                <a:ea typeface="Malgun Gothic"/>
                <a:cs typeface="Calibri"/>
              </a:rPr>
              <a:t>.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소형 모델도 잘 설계된 프롬프트면 고품질 → </a:t>
            </a:r>
            <a:r>
              <a:rPr sz="1200" b="1" i="0">
                <a:solidFill>
                  <a:srgbClr val="1E9E57"/>
                </a:solidFill>
                <a:latin typeface="Malgun Gothic"/>
                <a:ea typeface="Malgun Gothic"/>
                <a:cs typeface="Malgun Gothic"/>
              </a:rPr>
              <a:t>토큰 절감</a:t>
            </a:r>
            <a:r>
              <a:rPr sz="1200" b="0" i="0">
                <a:solidFill>
                  <a:srgbClr val="FFFFFF"/>
                </a:solidFill>
                <a:latin typeface="Calibri"/>
                <a:ea typeface="Malgun Gothic"/>
                <a:cs typeface="Calibri"/>
              </a:rPr>
              <a:t>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7397496"/>
            <a:ext cx="6645584" cy="1417320"/>
          </a:xfrm>
          <a:prstGeom prst="roundRect">
            <a:avLst>
              <a:gd name="adj" fmla="val 5000"/>
            </a:avLst>
          </a:prstGeom>
          <a:solidFill>
            <a:srgbClr val="F3F5F8"/>
          </a:solidFill>
          <a:ln w="12700">
            <a:solidFill>
              <a:srgbClr val="E7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58368" y="7543800"/>
            <a:ext cx="6243248" cy="1143000"/>
          </a:xfrm>
          <a:prstGeom prst="rect">
            <a:avLst/>
          </a:prstGeom>
          <a:noFill/>
        </p:spPr>
        <p:txBody>
          <a:bodyPr wrap="square" lIns="73152" tIns="0" rIns="73152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50" b="1" i="0">
                <a:solidFill>
                  <a:srgbClr val="E4002B"/>
                </a:solidFill>
                <a:latin typeface="Malgun Gothic"/>
                <a:ea typeface="Malgun Gothic"/>
                <a:cs typeface="Malgun Gothic"/>
              </a:rPr>
              <a:t>해법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150" b="0" i="0">
                <a:solidFill>
                  <a:srgbClr val="181F2B"/>
                </a:solidFill>
                <a:latin typeface="Malgun Gothic"/>
                <a:ea typeface="Malgun Gothic"/>
                <a:cs typeface="Malgun Gothic"/>
              </a:rPr>
              <a:t>입력과 LLM 사이에 ‘정제 계층’을 끼워 넣되, 미리보기·승인으로 가로막지 않는다.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150" b="1" i="0">
                <a:solidFill>
                  <a:srgbClr val="E4002B"/>
                </a:solidFill>
                <a:latin typeface="Malgun Gothic"/>
                <a:ea typeface="Malgun Gothic"/>
                <a:cs typeface="Malgun Gothic"/>
              </a:rPr>
              <a:t>끼어들되 가로막지 않는다.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9015984"/>
            <a:ext cx="6645584" cy="64008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1" i="1">
                <a:solidFill>
                  <a:srgbClr val="A80020"/>
                </a:solidFill>
                <a:latin typeface="Malgun Gothic"/>
                <a:ea typeface="Malgun Gothic"/>
                <a:cs typeface="Malgun Gothic"/>
              </a:rPr>
              <a:t>“끼어들되 가로막지 않는다”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10271363"/>
            <a:ext cx="6096944" cy="274320"/>
          </a:xfrm>
          <a:prstGeom prst="rect">
            <a:avLst/>
          </a:prstGeom>
          <a:noFill/>
        </p:spPr>
        <p:txBody>
          <a:bodyPr wrap="square" lIns="73152" tIns="0" rIns="73152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 i="0">
                <a:solidFill>
                  <a:srgbClr val="181F2B"/>
                </a:solidFill>
                <a:latin typeface="Cambria"/>
                <a:ea typeface="Malgun Gothic"/>
                <a:cs typeface="Cambria"/>
              </a:rPr>
              <a:t>Copilot Meta-Prompting</a:t>
            </a:r>
            <a:r>
              <a:rPr sz="850" b="0" i="0">
                <a:solidFill>
                  <a:srgbClr val="9AA4AE"/>
                </a:solidFill>
                <a:latin typeface="Malgun Gothic"/>
                <a:ea typeface="Malgun Gothic"/>
                <a:cs typeface="Malgun Gothic"/>
              </a:rPr>
              <a:t>    ·    SW Bootcamp 13기 C반 4팀    ·    github.com/swbteng/copilot-meta-prompting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71264" y="10271363"/>
            <a:ext cx="731520" cy="274320"/>
          </a:xfrm>
          <a:prstGeom prst="rect">
            <a:avLst/>
          </a:prstGeom>
          <a:noFill/>
        </p:spPr>
        <p:txBody>
          <a:bodyPr wrap="square" lIns="73152" tIns="0" r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1" i="0">
                <a:solidFill>
                  <a:srgbClr val="9AA4AE"/>
                </a:solidFill>
                <a:latin typeface="Cambria"/>
                <a:ea typeface="Malgun Gothic"/>
                <a:cs typeface="Cambria"/>
              </a:rPr>
              <a:t>1 / 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457200" y="566928"/>
            <a:ext cx="420624" cy="420624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mbria"/>
                <a:ea typeface="Malgun Gothic"/>
                <a:cs typeface="Cambria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530352"/>
            <a:ext cx="6042080" cy="256032"/>
          </a:xfrm>
          <a:prstGeom prst="rect">
            <a:avLst/>
          </a:prstGeom>
          <a:noFill/>
        </p:spPr>
        <p:txBody>
          <a:bodyPr wrap="square" lIns="73152" tIns="0" rIns="73152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 spc="60">
                <a:solidFill>
                  <a:srgbClr val="E4002B"/>
                </a:solidFill>
                <a:latin typeface="Malgun Gothic"/>
                <a:ea typeface="Malgun Gothic"/>
                <a:cs typeface="Malgun Gothic"/>
              </a:rPr>
              <a:t>아키텍처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713232"/>
            <a:ext cx="6042080" cy="365760"/>
          </a:xfrm>
          <a:prstGeom prst="rect">
            <a:avLst/>
          </a:prstGeom>
          <a:noFill/>
        </p:spPr>
        <p:txBody>
          <a:bodyPr wrap="square" lIns="73152" tIns="0" rIns="73152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 i="0">
                <a:solidFill>
                  <a:srgbClr val="181F2B"/>
                </a:solidFill>
                <a:latin typeface="Malgun Gothic"/>
                <a:ea typeface="Malgun Gothic"/>
                <a:cs typeface="Malgun Gothic"/>
              </a:rPr>
              <a:t>전체 구조 — FE 확장 ↔ BE 파이프라인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17320"/>
            <a:ext cx="6645584" cy="2651760"/>
          </a:xfrm>
          <a:prstGeom prst="roundRect">
            <a:avLst>
              <a:gd name="adj" fmla="val 4000"/>
            </a:avLst>
          </a:prstGeom>
          <a:solidFill>
            <a:srgbClr val="F3F5F8"/>
          </a:solidFill>
          <a:ln w="12700">
            <a:solidFill>
              <a:srgbClr val="E7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1581912"/>
            <a:ext cx="6188384" cy="274320"/>
          </a:xfrm>
          <a:prstGeom prst="rect">
            <a:avLst/>
          </a:prstGeom>
          <a:noFill/>
        </p:spPr>
        <p:txBody>
          <a:bodyPr wrap="square" lIns="73152" tIns="0" rIns="73152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 spc="60">
                <a:solidFill>
                  <a:srgbClr val="E4002B"/>
                </a:solidFill>
                <a:latin typeface="Calibri"/>
                <a:ea typeface="Malgun Gothic"/>
                <a:cs typeface="Calibri"/>
              </a:rPr>
              <a:t>FRONTEND</a:t>
            </a:r>
            <a:r>
              <a:rPr sz="1400" b="1" i="0">
                <a:solidFill>
                  <a:srgbClr val="181F2B"/>
                </a:solidFill>
                <a:latin typeface="Malgun Gothic"/>
                <a:ea typeface="Malgun Gothic"/>
                <a:cs typeface="Malgun Gothic"/>
              </a:rPr>
              <a:t>   —   VS Code 확장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984248"/>
            <a:ext cx="6188384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7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984248"/>
            <a:ext cx="2286000" cy="457200"/>
          </a:xfrm>
          <a:prstGeom prst="rect">
            <a:avLst/>
          </a:prstGeom>
          <a:noFill/>
        </p:spPr>
        <p:txBody>
          <a:bodyPr wrap="square" lIns="73152" tIns="0" rIns="73152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81F2B"/>
                </a:solidFill>
                <a:latin typeface="Malgun Gothic"/>
                <a:ea typeface="Malgun Gothic"/>
                <a:cs typeface="Malgun Gothic"/>
              </a:rPr>
              <a:t>@refine 참가자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54680" y="1984248"/>
            <a:ext cx="3628064" cy="457200"/>
          </a:xfrm>
          <a:prstGeom prst="rect">
            <a:avLst/>
          </a:prstGeom>
          <a:noFill/>
        </p:spPr>
        <p:txBody>
          <a:bodyPr wrap="square" lIns="73152" tIns="0" rIns="73152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66717E"/>
                </a:solidFill>
                <a:latin typeface="Malgun Gothic"/>
                <a:ea typeface="Malgun Gothic"/>
                <a:cs typeface="Malgun Gothic"/>
              </a:rPr>
              <a:t>정제 미리보기 + 5선택지 승인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532888"/>
            <a:ext cx="6188384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7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68680" y="2532888"/>
            <a:ext cx="2286000" cy="457200"/>
          </a:xfrm>
          <a:prstGeom prst="rect">
            <a:avLst/>
          </a:prstGeom>
          <a:noFill/>
        </p:spPr>
        <p:txBody>
          <a:bodyPr wrap="square" lIns="73152" tIns="0" rIns="73152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81F2B"/>
                </a:solidFill>
                <a:latin typeface="Malgun Gothic"/>
                <a:ea typeface="Malgun Gothic"/>
                <a:cs typeface="Malgun Gothic"/>
              </a:rPr>
              <a:t>사이드바 (Webview)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54680" y="2532888"/>
            <a:ext cx="3628064" cy="457200"/>
          </a:xfrm>
          <a:prstGeom prst="rect">
            <a:avLst/>
          </a:prstGeom>
          <a:noFill/>
        </p:spPr>
        <p:txBody>
          <a:bodyPr wrap="square" lIns="73152" tIns="0" rIns="73152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66717E"/>
                </a:solidFill>
                <a:latin typeface="Malgun Gothic"/>
                <a:ea typeface="Malgun Gothic"/>
                <a:cs typeface="Malgun Gothic"/>
              </a:rPr>
              <a:t>원본→정제본 카드 · 검색 · diff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081528"/>
            <a:ext cx="6188384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7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68680" y="3081528"/>
            <a:ext cx="2286000" cy="457200"/>
          </a:xfrm>
          <a:prstGeom prst="rect">
            <a:avLst/>
          </a:prstGeom>
          <a:noFill/>
        </p:spPr>
        <p:txBody>
          <a:bodyPr wrap="square" lIns="73152" tIns="0" rIns="73152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81F2B"/>
                </a:solidFill>
                <a:latin typeface="Malgun Gothic"/>
                <a:ea typeface="Malgun Gothic"/>
                <a:cs typeface="Malgun Gothic"/>
              </a:rPr>
              <a:t>로그 (JSONL)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54680" y="3081528"/>
            <a:ext cx="3628064" cy="457200"/>
          </a:xfrm>
          <a:prstGeom prst="rect">
            <a:avLst/>
          </a:prstGeom>
          <a:noFill/>
        </p:spPr>
        <p:txBody>
          <a:bodyPr wrap="square" lIns="73152" tIns="0" rIns="73152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66717E"/>
                </a:solidFill>
                <a:latin typeface="Calibri"/>
                <a:ea typeface="Malgun Gothic"/>
                <a:cs typeface="Calibri"/>
              </a:rPr>
              <a:t>observe-YYYY-MM-DD.log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3758184"/>
            <a:ext cx="6188384" cy="256032"/>
          </a:xfrm>
          <a:prstGeom prst="rect">
            <a:avLst/>
          </a:prstGeom>
          <a:noFill/>
        </p:spPr>
        <p:txBody>
          <a:bodyPr wrap="square" lIns="73152" tIns="0" rIns="73152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 spc="40">
                <a:solidFill>
                  <a:srgbClr val="9AA4AE"/>
                </a:solidFill>
                <a:latin typeface="Malgun Gothic"/>
                <a:ea typeface="Malgun Gothic"/>
                <a:cs typeface="Malgun Gothic"/>
              </a:rPr>
              <a:t>R-EX-01 ~ 11   ·   순수 JS   ·   런타임 의존성 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087368"/>
            <a:ext cx="6645584" cy="329184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1" i="0" spc="40">
                <a:solidFill>
                  <a:srgbClr val="E4002B"/>
                </a:solidFill>
                <a:latin typeface="Calibri"/>
                <a:ea typeface="Malgun Gothic"/>
                <a:cs typeface="Calibri"/>
              </a:rPr>
              <a:t>▼  HTTP   POST /refine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4453128"/>
            <a:ext cx="6645584" cy="1481328"/>
          </a:xfrm>
          <a:prstGeom prst="roundRect">
            <a:avLst>
              <a:gd name="adj" fmla="val 4000"/>
            </a:avLst>
          </a:prstGeom>
          <a:solidFill>
            <a:srgbClr val="1A25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85800" y="4599432"/>
            <a:ext cx="6188384" cy="274320"/>
          </a:xfrm>
          <a:prstGeom prst="rect">
            <a:avLst/>
          </a:prstGeom>
          <a:noFill/>
        </p:spPr>
        <p:txBody>
          <a:bodyPr wrap="square" lIns="73152" tIns="0" rIns="73152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 spc="60">
                <a:solidFill>
                  <a:srgbClr val="E4002B"/>
                </a:solidFill>
                <a:latin typeface="Calibri"/>
                <a:ea typeface="Malgun Gothic"/>
                <a:cs typeface="Calibri"/>
              </a:rPr>
              <a:t>BACKEND</a:t>
            </a:r>
            <a:r>
              <a:rPr sz="135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   —   Endpoint (FastAPI) · 메타프롬프팅 파이프라인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5001768"/>
            <a:ext cx="1259060" cy="713232"/>
          </a:xfrm>
          <a:prstGeom prst="roundRect">
            <a:avLst>
              <a:gd name="adj" fmla="val 7000"/>
            </a:avLst>
          </a:prstGeom>
          <a:solidFill>
            <a:srgbClr val="2330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85800" y="5093207"/>
            <a:ext cx="1259060" cy="310896"/>
          </a:xfrm>
          <a:prstGeom prst="rect">
            <a:avLst/>
          </a:prstGeom>
          <a:noFill/>
        </p:spPr>
        <p:txBody>
          <a:bodyPr wrap="square" lIns="73152" tIns="0" rIns="73152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1. 정제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5385816"/>
            <a:ext cx="1259060" cy="274320"/>
          </a:xfrm>
          <a:prstGeom prst="rect">
            <a:avLst/>
          </a:prstGeom>
          <a:noFill/>
        </p:spPr>
        <p:txBody>
          <a:bodyPr wrap="square" lIns="73152" tIns="0" rIns="73152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CADCFC"/>
                </a:solidFill>
                <a:latin typeface="Calibri"/>
                <a:ea typeface="Malgun Gothic"/>
                <a:cs typeface="Calibri"/>
              </a:rPr>
              <a:t>/rewrite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44860" y="5001768"/>
            <a:ext cx="384048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E4002B"/>
                </a:solidFill>
                <a:latin typeface="Cambria"/>
                <a:ea typeface="Malgun Gothic"/>
                <a:cs typeface="Cambria"/>
              </a:rPr>
              <a:t>›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328908" y="5001768"/>
            <a:ext cx="1259060" cy="713232"/>
          </a:xfrm>
          <a:prstGeom prst="roundRect">
            <a:avLst>
              <a:gd name="adj" fmla="val 7000"/>
            </a:avLst>
          </a:prstGeom>
          <a:solidFill>
            <a:srgbClr val="2330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2328908" y="5093207"/>
            <a:ext cx="1259060" cy="310896"/>
          </a:xfrm>
          <a:prstGeom prst="rect">
            <a:avLst/>
          </a:prstGeom>
          <a:noFill/>
        </p:spPr>
        <p:txBody>
          <a:bodyPr wrap="square" lIns="73152" tIns="0" rIns="73152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2. 검색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28908" y="5385816"/>
            <a:ext cx="1259060" cy="274320"/>
          </a:xfrm>
          <a:prstGeom prst="rect">
            <a:avLst/>
          </a:prstGeom>
          <a:noFill/>
        </p:spPr>
        <p:txBody>
          <a:bodyPr wrap="square" lIns="73152" tIns="0" rIns="73152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CADCFC"/>
                </a:solidFill>
                <a:latin typeface="Calibri"/>
                <a:ea typeface="Malgun Gothic"/>
                <a:cs typeface="Calibri"/>
              </a:rPr>
              <a:t>/search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87968" y="5001768"/>
            <a:ext cx="384048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E4002B"/>
                </a:solidFill>
                <a:latin typeface="Cambria"/>
                <a:ea typeface="Malgun Gothic"/>
                <a:cs typeface="Cambria"/>
              </a:rPr>
              <a:t>›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972016" y="5001768"/>
            <a:ext cx="1259060" cy="713232"/>
          </a:xfrm>
          <a:prstGeom prst="roundRect">
            <a:avLst>
              <a:gd name="adj" fmla="val 7000"/>
            </a:avLst>
          </a:prstGeom>
          <a:solidFill>
            <a:srgbClr val="2330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972016" y="5093207"/>
            <a:ext cx="1259060" cy="310896"/>
          </a:xfrm>
          <a:prstGeom prst="rect">
            <a:avLst/>
          </a:prstGeom>
          <a:noFill/>
        </p:spPr>
        <p:txBody>
          <a:bodyPr wrap="square" lIns="73152" tIns="0" rIns="73152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3. 리랭킹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972016" y="5385816"/>
            <a:ext cx="1259060" cy="274320"/>
          </a:xfrm>
          <a:prstGeom prst="rect">
            <a:avLst/>
          </a:prstGeom>
          <a:noFill/>
        </p:spPr>
        <p:txBody>
          <a:bodyPr wrap="square" lIns="73152" tIns="0" rIns="73152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CADCFC"/>
                </a:solidFill>
                <a:latin typeface="Calibri"/>
                <a:ea typeface="Malgun Gothic"/>
                <a:cs typeface="Calibri"/>
              </a:rPr>
              <a:t>/rerank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231076" y="5001768"/>
            <a:ext cx="384048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E4002B"/>
                </a:solidFill>
                <a:latin typeface="Cambria"/>
                <a:ea typeface="Malgun Gothic"/>
                <a:cs typeface="Cambria"/>
              </a:rPr>
              <a:t>›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15124" y="5001768"/>
            <a:ext cx="1259060" cy="713232"/>
          </a:xfrm>
          <a:prstGeom prst="roundRect">
            <a:avLst>
              <a:gd name="adj" fmla="val 7000"/>
            </a:avLst>
          </a:prstGeom>
          <a:solidFill>
            <a:srgbClr val="2330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615124" y="5093207"/>
            <a:ext cx="1259060" cy="310896"/>
          </a:xfrm>
          <a:prstGeom prst="rect">
            <a:avLst/>
          </a:prstGeom>
          <a:noFill/>
        </p:spPr>
        <p:txBody>
          <a:bodyPr wrap="square" lIns="73152" tIns="0" rIns="73152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4. 생성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15124" y="5385816"/>
            <a:ext cx="1259060" cy="274320"/>
          </a:xfrm>
          <a:prstGeom prst="rect">
            <a:avLst/>
          </a:prstGeom>
          <a:noFill/>
        </p:spPr>
        <p:txBody>
          <a:bodyPr wrap="square" lIns="73152" tIns="0" rIns="73152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CADCFC"/>
                </a:solidFill>
                <a:latin typeface="Calibri"/>
                <a:ea typeface="Malgun Gothic"/>
                <a:cs typeface="Calibri"/>
              </a:rPr>
              <a:t>/generate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57200" y="6245352"/>
            <a:ext cx="3167344" cy="2971800"/>
          </a:xfrm>
          <a:prstGeom prst="roundRect">
            <a:avLst>
              <a:gd name="adj" fmla="val 4500"/>
            </a:avLst>
          </a:prstGeom>
          <a:solidFill>
            <a:srgbClr val="F3F5F8"/>
          </a:solidFill>
          <a:ln w="12700">
            <a:solidFill>
              <a:srgbClr val="E7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58368" y="6409944"/>
            <a:ext cx="2765008" cy="274320"/>
          </a:xfrm>
          <a:prstGeom prst="rect">
            <a:avLst/>
          </a:prstGeom>
          <a:noFill/>
        </p:spPr>
        <p:txBody>
          <a:bodyPr wrap="square" lIns="73152" tIns="0" rIns="73152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 spc="40">
                <a:solidFill>
                  <a:srgbClr val="E4002B"/>
                </a:solidFill>
                <a:latin typeface="Calibri"/>
                <a:ea typeface="Malgun Gothic"/>
                <a:cs typeface="Calibri"/>
              </a:rPr>
              <a:t>AI INFRA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350" b="1" i="0">
                <a:solidFill>
                  <a:srgbClr val="181F2B"/>
                </a:solidFill>
                <a:latin typeface="Malgun Gothic"/>
                <a:ea typeface="Malgun Gothic"/>
                <a:cs typeface="Malgun Gothic"/>
              </a:rPr>
              <a:t>vLLM 서빙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" y="7086600"/>
            <a:ext cx="2765008" cy="548640"/>
          </a:xfrm>
          <a:prstGeom prst="rect">
            <a:avLst/>
          </a:prstGeom>
          <a:noFill/>
        </p:spPr>
        <p:txBody>
          <a:bodyPr wrap="square" lIns="73152" tIns="0" rIns="73152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1" i="0">
                <a:solidFill>
                  <a:srgbClr val="E4002B"/>
                </a:solidFill>
                <a:latin typeface="Calibri"/>
                <a:ea typeface="Malgun Gothic"/>
                <a:cs typeface="Calibri"/>
              </a:rPr>
              <a:t>● </a:t>
            </a:r>
            <a:r>
              <a:rPr sz="1150" b="1" i="0">
                <a:solidFill>
                  <a:srgbClr val="181F2B"/>
                </a:solidFill>
                <a:latin typeface="Calibri"/>
                <a:ea typeface="Malgun Gothic"/>
                <a:cs typeface="Calibri"/>
              </a:rPr>
              <a:t>LLM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66717E"/>
                </a:solidFill>
                <a:latin typeface="Calibri"/>
                <a:ea typeface="Malgun Gothic"/>
                <a:cs typeface="Calibri"/>
              </a:rPr>
              <a:t>   Qwen3.6-35B-A3B (AWQ 4-bit)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" y="7690104"/>
            <a:ext cx="2765008" cy="548640"/>
          </a:xfrm>
          <a:prstGeom prst="rect">
            <a:avLst/>
          </a:prstGeom>
          <a:noFill/>
        </p:spPr>
        <p:txBody>
          <a:bodyPr wrap="square" lIns="73152" tIns="0" rIns="73152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1" i="0">
                <a:solidFill>
                  <a:srgbClr val="E4002B"/>
                </a:solidFill>
                <a:latin typeface="Calibri"/>
                <a:ea typeface="Malgun Gothic"/>
                <a:cs typeface="Calibri"/>
              </a:rPr>
              <a:t>● </a:t>
            </a:r>
            <a:r>
              <a:rPr sz="1150" b="1" i="0">
                <a:solidFill>
                  <a:srgbClr val="181F2B"/>
                </a:solidFill>
                <a:latin typeface="Calibri"/>
                <a:ea typeface="Malgun Gothic"/>
                <a:cs typeface="Calibri"/>
              </a:rPr>
              <a:t>Embedding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66717E"/>
                </a:solidFill>
                <a:latin typeface="Calibri"/>
                <a:ea typeface="Malgun Gothic"/>
                <a:cs typeface="Calibri"/>
              </a:rPr>
              <a:t>   Qwen3-Embedding-8B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" y="8293608"/>
            <a:ext cx="2765008" cy="548640"/>
          </a:xfrm>
          <a:prstGeom prst="rect">
            <a:avLst/>
          </a:prstGeom>
          <a:noFill/>
        </p:spPr>
        <p:txBody>
          <a:bodyPr wrap="square" lIns="73152" tIns="0" rIns="73152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1" i="0">
                <a:solidFill>
                  <a:srgbClr val="E4002B"/>
                </a:solidFill>
                <a:latin typeface="Calibri"/>
                <a:ea typeface="Malgun Gothic"/>
                <a:cs typeface="Calibri"/>
              </a:rPr>
              <a:t>● </a:t>
            </a:r>
            <a:r>
              <a:rPr sz="1150" b="1" i="0">
                <a:solidFill>
                  <a:srgbClr val="181F2B"/>
                </a:solidFill>
                <a:latin typeface="Calibri"/>
                <a:ea typeface="Malgun Gothic"/>
                <a:cs typeface="Calibri"/>
              </a:rPr>
              <a:t>Reranker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66717E"/>
                </a:solidFill>
                <a:latin typeface="Calibri"/>
                <a:ea typeface="Malgun Gothic"/>
                <a:cs typeface="Calibri"/>
              </a:rPr>
              <a:t>   Qwen3-Reranker-4B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935440" y="6245352"/>
            <a:ext cx="3167344" cy="2971800"/>
          </a:xfrm>
          <a:prstGeom prst="roundRect">
            <a:avLst>
              <a:gd name="adj" fmla="val 4500"/>
            </a:avLst>
          </a:prstGeom>
          <a:solidFill>
            <a:srgbClr val="F3F5F8"/>
          </a:solidFill>
          <a:ln w="12700">
            <a:solidFill>
              <a:srgbClr val="E7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4136608" y="6409944"/>
            <a:ext cx="2765008" cy="274320"/>
          </a:xfrm>
          <a:prstGeom prst="rect">
            <a:avLst/>
          </a:prstGeom>
          <a:noFill/>
        </p:spPr>
        <p:txBody>
          <a:bodyPr wrap="square" lIns="73152" tIns="0" rIns="73152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 spc="40">
                <a:solidFill>
                  <a:srgbClr val="E4002B"/>
                </a:solidFill>
                <a:latin typeface="Calibri"/>
                <a:ea typeface="Malgun Gothic"/>
                <a:cs typeface="Calibri"/>
              </a:rPr>
              <a:t>VECTOR DB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350" b="1" i="0">
                <a:solidFill>
                  <a:srgbClr val="181F2B"/>
                </a:solidFill>
                <a:latin typeface="Calibri"/>
                <a:ea typeface="Malgun Gothic"/>
                <a:cs typeface="Calibri"/>
              </a:rPr>
              <a:t>Chroma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136608" y="7086600"/>
            <a:ext cx="2765008" cy="548640"/>
          </a:xfrm>
          <a:prstGeom prst="rect">
            <a:avLst/>
          </a:prstGeom>
          <a:noFill/>
        </p:spPr>
        <p:txBody>
          <a:bodyPr wrap="square" lIns="73152" tIns="0" rIns="73152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1" i="0">
                <a:solidFill>
                  <a:srgbClr val="E4002B"/>
                </a:solidFill>
                <a:latin typeface="Calibri"/>
                <a:ea typeface="Malgun Gothic"/>
                <a:cs typeface="Calibri"/>
              </a:rPr>
              <a:t>● </a:t>
            </a:r>
            <a:r>
              <a:rPr sz="1150" b="1" i="0">
                <a:solidFill>
                  <a:srgbClr val="181F2B"/>
                </a:solidFill>
                <a:latin typeface="Malgun Gothic"/>
                <a:ea typeface="Malgun Gothic"/>
                <a:cs typeface="Malgun Gothic"/>
              </a:rPr>
              <a:t>템플릿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66717E"/>
                </a:solidFill>
                <a:latin typeface="Malgun Gothic"/>
                <a:ea typeface="Malgun Gothic"/>
                <a:cs typeface="Malgun Gothic"/>
              </a:rPr>
              <a:t>   651개 고품질 프롬프트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136608" y="7690104"/>
            <a:ext cx="2765008" cy="548640"/>
          </a:xfrm>
          <a:prstGeom prst="rect">
            <a:avLst/>
          </a:prstGeom>
          <a:noFill/>
        </p:spPr>
        <p:txBody>
          <a:bodyPr wrap="square" lIns="73152" tIns="0" rIns="73152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1" i="0">
                <a:solidFill>
                  <a:srgbClr val="E4002B"/>
                </a:solidFill>
                <a:latin typeface="Calibri"/>
                <a:ea typeface="Malgun Gothic"/>
                <a:cs typeface="Calibri"/>
              </a:rPr>
              <a:t>● </a:t>
            </a:r>
            <a:r>
              <a:rPr sz="1150" b="1" i="0">
                <a:solidFill>
                  <a:srgbClr val="181F2B"/>
                </a:solidFill>
                <a:latin typeface="Malgun Gothic"/>
                <a:ea typeface="Malgun Gothic"/>
                <a:cs typeface="Malgun Gothic"/>
              </a:rPr>
              <a:t>임베딩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66717E"/>
                </a:solidFill>
                <a:latin typeface="Malgun Gothic"/>
                <a:ea typeface="Malgun Gothic"/>
                <a:cs typeface="Malgun Gothic"/>
              </a:rPr>
              <a:t>   4096차원 (Qwen3-8B)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136608" y="8293608"/>
            <a:ext cx="2765008" cy="548640"/>
          </a:xfrm>
          <a:prstGeom prst="rect">
            <a:avLst/>
          </a:prstGeom>
          <a:noFill/>
        </p:spPr>
        <p:txBody>
          <a:bodyPr wrap="square" lIns="73152" tIns="0" rIns="73152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1" i="0">
                <a:solidFill>
                  <a:srgbClr val="E4002B"/>
                </a:solidFill>
                <a:latin typeface="Calibri"/>
                <a:ea typeface="Malgun Gothic"/>
                <a:cs typeface="Calibri"/>
              </a:rPr>
              <a:t>● </a:t>
            </a:r>
            <a:r>
              <a:rPr sz="1150" b="1" i="0">
                <a:solidFill>
                  <a:srgbClr val="181F2B"/>
                </a:solidFill>
                <a:latin typeface="Malgun Gothic"/>
                <a:ea typeface="Malgun Gothic"/>
                <a:cs typeface="Malgun Gothic"/>
              </a:rPr>
              <a:t>검색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66717E"/>
                </a:solidFill>
                <a:latin typeface="Calibri"/>
                <a:ea typeface="Malgun Gothic"/>
                <a:cs typeface="Calibri"/>
              </a:rPr>
              <a:t>   Top-20 → Reranker → Top-3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10271363"/>
            <a:ext cx="6096944" cy="274320"/>
          </a:xfrm>
          <a:prstGeom prst="rect">
            <a:avLst/>
          </a:prstGeom>
          <a:noFill/>
        </p:spPr>
        <p:txBody>
          <a:bodyPr wrap="square" lIns="73152" tIns="0" rIns="73152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 i="0">
                <a:solidFill>
                  <a:srgbClr val="181F2B"/>
                </a:solidFill>
                <a:latin typeface="Cambria"/>
                <a:ea typeface="Malgun Gothic"/>
                <a:cs typeface="Cambria"/>
              </a:rPr>
              <a:t>Copilot Meta-Prompting</a:t>
            </a:r>
            <a:r>
              <a:rPr sz="850" b="0" i="0">
                <a:solidFill>
                  <a:srgbClr val="9AA4AE"/>
                </a:solidFill>
                <a:latin typeface="Malgun Gothic"/>
                <a:ea typeface="Malgun Gothic"/>
                <a:cs typeface="Malgun Gothic"/>
              </a:rPr>
              <a:t>    ·    SW Bootcamp 13기 C반 4팀    ·    github.com/swbteng/copilot-meta-prompting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371264" y="10271363"/>
            <a:ext cx="731520" cy="274320"/>
          </a:xfrm>
          <a:prstGeom prst="rect">
            <a:avLst/>
          </a:prstGeom>
          <a:noFill/>
        </p:spPr>
        <p:txBody>
          <a:bodyPr wrap="square" lIns="73152" tIns="0" r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1" i="0">
                <a:solidFill>
                  <a:srgbClr val="9AA4AE"/>
                </a:solidFill>
                <a:latin typeface="Cambria"/>
                <a:ea typeface="Malgun Gothic"/>
                <a:cs typeface="Cambria"/>
              </a:rPr>
              <a:t>2 / 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457200" y="566928"/>
            <a:ext cx="420624" cy="420624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mbria"/>
                <a:ea typeface="Malgun Gothic"/>
                <a:cs typeface="Cambria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530352"/>
            <a:ext cx="6042080" cy="256032"/>
          </a:xfrm>
          <a:prstGeom prst="rect">
            <a:avLst/>
          </a:prstGeom>
          <a:noFill/>
        </p:spPr>
        <p:txBody>
          <a:bodyPr wrap="square" lIns="73152" tIns="0" rIns="73152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 spc="60">
                <a:solidFill>
                  <a:srgbClr val="E4002B"/>
                </a:solidFill>
                <a:latin typeface="Malgun Gothic"/>
                <a:ea typeface="Malgun Gothic"/>
                <a:cs typeface="Malgun Gothic"/>
              </a:rPr>
              <a:t>파이프라인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713232"/>
            <a:ext cx="6042080" cy="365760"/>
          </a:xfrm>
          <a:prstGeom prst="rect">
            <a:avLst/>
          </a:prstGeom>
          <a:noFill/>
        </p:spPr>
        <p:txBody>
          <a:bodyPr wrap="square" lIns="73152" tIns="0" rIns="73152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 i="0">
                <a:solidFill>
                  <a:srgbClr val="181F2B"/>
                </a:solidFill>
                <a:latin typeface="Malgun Gothic"/>
                <a:ea typeface="Malgun Gothic"/>
                <a:cs typeface="Malgun Gothic"/>
              </a:rPr>
              <a:t>정제는 어떻게 일어나는가 — 4단계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6645584" cy="768096"/>
          </a:xfrm>
          <a:prstGeom prst="roundRect">
            <a:avLst>
              <a:gd name="adj" fmla="val 5000"/>
            </a:avLst>
          </a:prstGeom>
          <a:solidFill>
            <a:srgbClr val="F3F5F8"/>
          </a:solidFill>
          <a:ln w="12700">
            <a:solidFill>
              <a:srgbClr val="E7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640080" y="1572768"/>
            <a:ext cx="365760" cy="365760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Cambria"/>
                <a:ea typeface="Malgun Gothic"/>
                <a:cs typeface="Cambria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1481328"/>
            <a:ext cx="2103120" cy="292608"/>
          </a:xfrm>
          <a:prstGeom prst="rect">
            <a:avLst/>
          </a:prstGeom>
          <a:noFill/>
        </p:spPr>
        <p:txBody>
          <a:bodyPr wrap="square" lIns="73152" tIns="0" rIns="73152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81F2B"/>
                </a:solidFill>
                <a:latin typeface="Malgun Gothic"/>
                <a:ea typeface="Malgun Gothic"/>
                <a:cs typeface="Malgun Gothic"/>
              </a:rPr>
              <a:t>LLM 정제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1792224"/>
            <a:ext cx="914400" cy="246888"/>
          </a:xfrm>
          <a:prstGeom prst="roundRect">
            <a:avLst>
              <a:gd name="adj" fmla="val 35000"/>
            </a:avLst>
          </a:prstGeom>
          <a:solidFill>
            <a:srgbClr val="0F1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43000" y="1792224"/>
            <a:ext cx="914400" cy="246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 i="0">
                <a:solidFill>
                  <a:srgbClr val="CADCFC"/>
                </a:solidFill>
                <a:latin typeface="Calibri"/>
                <a:ea typeface="Malgun Gothic"/>
                <a:cs typeface="Calibri"/>
              </a:rPr>
              <a:t>/rewrite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71800" y="1371600"/>
            <a:ext cx="3993824" cy="768096"/>
          </a:xfrm>
          <a:prstGeom prst="rect">
            <a:avLst/>
          </a:prstGeom>
          <a:noFill/>
        </p:spPr>
        <p:txBody>
          <a:bodyPr wrap="square" lIns="73152" tIns="0" rIns="73152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0" i="0">
                <a:solidFill>
                  <a:srgbClr val="66717E"/>
                </a:solidFill>
                <a:latin typeface="Malgun Gothic"/>
                <a:ea typeface="Malgun Gothic"/>
                <a:cs typeface="Malgun Gothic"/>
              </a:rPr>
              <a:t>모호한 입력을 명료한 영어 프롬프트로 재작성. 의도 보존.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249424"/>
            <a:ext cx="6645584" cy="768096"/>
          </a:xfrm>
          <a:prstGeom prst="roundRect">
            <a:avLst>
              <a:gd name="adj" fmla="val 5000"/>
            </a:avLst>
          </a:prstGeom>
          <a:solidFill>
            <a:srgbClr val="F3F5F8"/>
          </a:solidFill>
          <a:ln w="12700">
            <a:solidFill>
              <a:srgbClr val="E7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640080" y="2450592"/>
            <a:ext cx="365760" cy="365760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Cambria"/>
                <a:ea typeface="Malgun Gothic"/>
                <a:cs typeface="Cambria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2359152"/>
            <a:ext cx="2103120" cy="292608"/>
          </a:xfrm>
          <a:prstGeom prst="rect">
            <a:avLst/>
          </a:prstGeom>
          <a:noFill/>
        </p:spPr>
        <p:txBody>
          <a:bodyPr wrap="square" lIns="73152" tIns="0" rIns="73152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81F2B"/>
                </a:solidFill>
                <a:latin typeface="Malgun Gothic"/>
                <a:ea typeface="Malgun Gothic"/>
                <a:cs typeface="Malgun Gothic"/>
              </a:rPr>
              <a:t>벡터 검색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2670048"/>
            <a:ext cx="914400" cy="246888"/>
          </a:xfrm>
          <a:prstGeom prst="roundRect">
            <a:avLst>
              <a:gd name="adj" fmla="val 35000"/>
            </a:avLst>
          </a:prstGeom>
          <a:solidFill>
            <a:srgbClr val="0F1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143000" y="2670048"/>
            <a:ext cx="914400" cy="246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 i="0">
                <a:solidFill>
                  <a:srgbClr val="CADCFC"/>
                </a:solidFill>
                <a:latin typeface="Calibri"/>
                <a:ea typeface="Malgun Gothic"/>
                <a:cs typeface="Calibri"/>
              </a:rPr>
              <a:t>/search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71800" y="2249424"/>
            <a:ext cx="3993824" cy="768096"/>
          </a:xfrm>
          <a:prstGeom prst="rect">
            <a:avLst/>
          </a:prstGeom>
          <a:noFill/>
        </p:spPr>
        <p:txBody>
          <a:bodyPr wrap="square" lIns="73152" tIns="0" rIns="73152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0" i="0">
                <a:solidFill>
                  <a:srgbClr val="66717E"/>
                </a:solidFill>
                <a:latin typeface="Malgun Gothic"/>
                <a:ea typeface="Malgun Gothic"/>
                <a:cs typeface="Malgun Gothic"/>
              </a:rPr>
              <a:t>재작성본을 임베딩해 Chroma 코사인 유사도 Top-20 검색.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3127248"/>
            <a:ext cx="6645584" cy="768096"/>
          </a:xfrm>
          <a:prstGeom prst="roundRect">
            <a:avLst>
              <a:gd name="adj" fmla="val 5000"/>
            </a:avLst>
          </a:prstGeom>
          <a:solidFill>
            <a:srgbClr val="F3F5F8"/>
          </a:solidFill>
          <a:ln w="12700">
            <a:solidFill>
              <a:srgbClr val="E7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640080" y="3328416"/>
            <a:ext cx="365760" cy="365760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Cambria"/>
                <a:ea typeface="Malgun Gothic"/>
                <a:cs typeface="Cambri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3236976"/>
            <a:ext cx="2103120" cy="292608"/>
          </a:xfrm>
          <a:prstGeom prst="rect">
            <a:avLst/>
          </a:prstGeom>
          <a:noFill/>
        </p:spPr>
        <p:txBody>
          <a:bodyPr wrap="square" lIns="73152" tIns="0" rIns="73152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81F2B"/>
                </a:solidFill>
                <a:latin typeface="Malgun Gothic"/>
                <a:ea typeface="Malgun Gothic"/>
                <a:cs typeface="Malgun Gothic"/>
              </a:rPr>
              <a:t>리랭킹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3547872"/>
            <a:ext cx="914400" cy="246888"/>
          </a:xfrm>
          <a:prstGeom prst="roundRect">
            <a:avLst>
              <a:gd name="adj" fmla="val 35000"/>
            </a:avLst>
          </a:prstGeom>
          <a:solidFill>
            <a:srgbClr val="0F1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143000" y="3547872"/>
            <a:ext cx="914400" cy="246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 i="0">
                <a:solidFill>
                  <a:srgbClr val="CADCFC"/>
                </a:solidFill>
                <a:latin typeface="Calibri"/>
                <a:ea typeface="Malgun Gothic"/>
                <a:cs typeface="Calibri"/>
              </a:rPr>
              <a:t>/rerank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71800" y="3127248"/>
            <a:ext cx="3993824" cy="768096"/>
          </a:xfrm>
          <a:prstGeom prst="rect">
            <a:avLst/>
          </a:prstGeom>
          <a:noFill/>
        </p:spPr>
        <p:txBody>
          <a:bodyPr wrap="square" lIns="73152" tIns="0" rIns="73152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0" i="0">
                <a:solidFill>
                  <a:srgbClr val="66717E"/>
                </a:solidFill>
                <a:latin typeface="Malgun Gothic"/>
                <a:ea typeface="Malgun Gothic"/>
                <a:cs typeface="Malgun Gothic"/>
              </a:rPr>
              <a:t>Reranker로 의미 적합성 재점수화 → 최종 Top-3 선별.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4005072"/>
            <a:ext cx="6645584" cy="768096"/>
          </a:xfrm>
          <a:prstGeom prst="roundRect">
            <a:avLst>
              <a:gd name="adj" fmla="val 5000"/>
            </a:avLst>
          </a:prstGeom>
          <a:solidFill>
            <a:srgbClr val="F3F5F8"/>
          </a:solidFill>
          <a:ln w="12700">
            <a:solidFill>
              <a:srgbClr val="E7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640080" y="4206240"/>
            <a:ext cx="365760" cy="365760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Cambria"/>
                <a:ea typeface="Malgun Gothic"/>
                <a:cs typeface="Cambria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43000" y="4114800"/>
            <a:ext cx="2103120" cy="292608"/>
          </a:xfrm>
          <a:prstGeom prst="rect">
            <a:avLst/>
          </a:prstGeom>
          <a:noFill/>
        </p:spPr>
        <p:txBody>
          <a:bodyPr wrap="square" lIns="73152" tIns="0" rIns="73152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81F2B"/>
                </a:solidFill>
                <a:latin typeface="Malgun Gothic"/>
                <a:ea typeface="Malgun Gothic"/>
                <a:cs typeface="Malgun Gothic"/>
              </a:rPr>
              <a:t>LLM 최종 생성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425696"/>
            <a:ext cx="914400" cy="246888"/>
          </a:xfrm>
          <a:prstGeom prst="roundRect">
            <a:avLst>
              <a:gd name="adj" fmla="val 35000"/>
            </a:avLst>
          </a:prstGeom>
          <a:solidFill>
            <a:srgbClr val="0F1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143000" y="4425696"/>
            <a:ext cx="914400" cy="246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 i="0">
                <a:solidFill>
                  <a:srgbClr val="CADCFC"/>
                </a:solidFill>
                <a:latin typeface="Calibri"/>
                <a:ea typeface="Malgun Gothic"/>
                <a:cs typeface="Calibri"/>
              </a:rPr>
              <a:t>/generate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971800" y="4005072"/>
            <a:ext cx="3993824" cy="768096"/>
          </a:xfrm>
          <a:prstGeom prst="rect">
            <a:avLst/>
          </a:prstGeom>
          <a:noFill/>
        </p:spPr>
        <p:txBody>
          <a:bodyPr wrap="square" lIns="73152" tIns="0" rIns="73152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0" i="0">
                <a:solidFill>
                  <a:srgbClr val="66717E"/>
                </a:solidFill>
                <a:latin typeface="Malgun Gothic"/>
                <a:ea typeface="Malgun Gothic"/>
                <a:cs typeface="Malgun Gothic"/>
              </a:rPr>
              <a:t>Top-3 중 최적 선택 + 원본 의도로 최종 프롬프트 합성.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5047488"/>
            <a:ext cx="6645584" cy="292608"/>
          </a:xfrm>
          <a:prstGeom prst="rect">
            <a:avLst/>
          </a:prstGeom>
          <a:noFill/>
        </p:spPr>
        <p:txBody>
          <a:bodyPr wrap="square" lIns="73152" tIns="0" rIns="73152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181F2B"/>
                </a:solidFill>
                <a:latin typeface="Cambria"/>
                <a:ea typeface="Malgun Gothic"/>
                <a:cs typeface="Cambria"/>
              </a:rPr>
              <a:t>@refine UX</a:t>
            </a:r>
            <a:r>
              <a:rPr sz="1250" b="1" i="0">
                <a:solidFill>
                  <a:srgbClr val="66717E"/>
                </a:solidFill>
                <a:latin typeface="Malgun Gothic"/>
                <a:ea typeface="Malgun Gothic"/>
                <a:cs typeface="Malgun Gothic"/>
              </a:rPr>
              <a:t>  —  5가지 승인 선택지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5431536"/>
            <a:ext cx="6645584" cy="384048"/>
          </a:xfrm>
          <a:prstGeom prst="roundRect">
            <a:avLst>
              <a:gd name="adj" fmla="val 9000"/>
            </a:avLst>
          </a:prstGeom>
          <a:solidFill>
            <a:srgbClr val="F3F5F8"/>
          </a:solidFill>
          <a:ln w="9525">
            <a:solidFill>
              <a:srgbClr val="E7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40080" y="5431536"/>
            <a:ext cx="2011680" cy="384048"/>
          </a:xfrm>
          <a:prstGeom prst="rect">
            <a:avLst/>
          </a:prstGeom>
          <a:noFill/>
        </p:spPr>
        <p:txBody>
          <a:bodyPr wrap="square" lIns="73152" tIns="0" rIns="73152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E4002B"/>
                </a:solidFill>
                <a:latin typeface="Malgun Gothic"/>
                <a:ea typeface="Malgun Gothic"/>
                <a:cs typeface="Malgun Gothic"/>
              </a:rPr>
              <a:t>✓  전송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697480" y="5431536"/>
            <a:ext cx="4222424" cy="384048"/>
          </a:xfrm>
          <a:prstGeom prst="rect">
            <a:avLst/>
          </a:prstGeom>
          <a:noFill/>
        </p:spPr>
        <p:txBody>
          <a:bodyPr wrap="square" lIns="73152" tIns="0" rIns="73152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81F2B"/>
                </a:solidFill>
                <a:latin typeface="Malgun Gothic"/>
                <a:ea typeface="Malgun Gothic"/>
                <a:cs typeface="Malgun Gothic"/>
              </a:rPr>
              <a:t>정제본 자동 전송 (기록 남김)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5888736"/>
            <a:ext cx="6645584" cy="384048"/>
          </a:xfrm>
          <a:prstGeom prst="roundRect">
            <a:avLst>
              <a:gd name="adj" fmla="val 9000"/>
            </a:avLst>
          </a:prstGeom>
          <a:solidFill>
            <a:srgbClr val="F3F5F8"/>
          </a:solidFill>
          <a:ln w="9525">
            <a:solidFill>
              <a:srgbClr val="E7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40080" y="5888736"/>
            <a:ext cx="2011680" cy="384048"/>
          </a:xfrm>
          <a:prstGeom prst="rect">
            <a:avLst/>
          </a:prstGeom>
          <a:noFill/>
        </p:spPr>
        <p:txBody>
          <a:bodyPr wrap="square" lIns="73152" tIns="0" rIns="73152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E4002B"/>
                </a:solidFill>
                <a:latin typeface="Malgun Gothic"/>
                <a:ea typeface="Malgun Gothic"/>
                <a:cs typeface="Malgun Gothic"/>
              </a:rPr>
              <a:t>✎  수정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5888736"/>
            <a:ext cx="4222424" cy="384048"/>
          </a:xfrm>
          <a:prstGeom prst="rect">
            <a:avLst/>
          </a:prstGeom>
          <a:noFill/>
        </p:spPr>
        <p:txBody>
          <a:bodyPr wrap="square" lIns="73152" tIns="0" rIns="73152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81F2B"/>
                </a:solidFill>
                <a:latin typeface="Malgun Gothic"/>
                <a:ea typeface="Malgun Gothic"/>
                <a:cs typeface="Malgun Gothic"/>
              </a:rPr>
              <a:t>정제본을 입력창에 채워 편집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57200" y="6345936"/>
            <a:ext cx="6645584" cy="384048"/>
          </a:xfrm>
          <a:prstGeom prst="roundRect">
            <a:avLst>
              <a:gd name="adj" fmla="val 9000"/>
            </a:avLst>
          </a:prstGeom>
          <a:solidFill>
            <a:srgbClr val="F3F5F8"/>
          </a:solidFill>
          <a:ln w="9525">
            <a:solidFill>
              <a:srgbClr val="E7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40080" y="6345936"/>
            <a:ext cx="2011680" cy="384048"/>
          </a:xfrm>
          <a:prstGeom prst="rect">
            <a:avLst/>
          </a:prstGeom>
          <a:noFill/>
        </p:spPr>
        <p:txBody>
          <a:bodyPr wrap="square" lIns="73152" tIns="0" rIns="73152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E4002B"/>
                </a:solidFill>
                <a:latin typeface="Malgun Gothic"/>
                <a:ea typeface="Malgun Gothic"/>
                <a:cs typeface="Malgun Gothic"/>
              </a:rPr>
              <a:t>↻  다시 정제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6345936"/>
            <a:ext cx="4222424" cy="384048"/>
          </a:xfrm>
          <a:prstGeom prst="rect">
            <a:avLst/>
          </a:prstGeom>
          <a:noFill/>
        </p:spPr>
        <p:txBody>
          <a:bodyPr wrap="square" lIns="73152" tIns="0" rIns="73152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81F2B"/>
                </a:solidFill>
                <a:latin typeface="Malgun Gothic"/>
                <a:ea typeface="Malgun Gothic"/>
                <a:cs typeface="Malgun Gothic"/>
              </a:rPr>
              <a:t>동일 원본으로 재정제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57200" y="6803136"/>
            <a:ext cx="6645584" cy="384048"/>
          </a:xfrm>
          <a:prstGeom prst="roundRect">
            <a:avLst>
              <a:gd name="adj" fmla="val 9000"/>
            </a:avLst>
          </a:prstGeom>
          <a:solidFill>
            <a:srgbClr val="F3F5F8"/>
          </a:solidFill>
          <a:ln w="9525">
            <a:solidFill>
              <a:srgbClr val="E7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40080" y="6803136"/>
            <a:ext cx="2011680" cy="384048"/>
          </a:xfrm>
          <a:prstGeom prst="rect">
            <a:avLst/>
          </a:prstGeom>
          <a:noFill/>
        </p:spPr>
        <p:txBody>
          <a:bodyPr wrap="square" lIns="73152" tIns="0" rIns="73152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E4002B"/>
                </a:solidFill>
                <a:latin typeface="Malgun Gothic"/>
                <a:ea typeface="Malgun Gothic"/>
                <a:cs typeface="Malgun Gothic"/>
              </a:rPr>
              <a:t>→  원본 전송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697480" y="6803136"/>
            <a:ext cx="4222424" cy="384048"/>
          </a:xfrm>
          <a:prstGeom prst="rect">
            <a:avLst/>
          </a:prstGeom>
          <a:noFill/>
        </p:spPr>
        <p:txBody>
          <a:bodyPr wrap="square" lIns="73152" tIns="0" rIns="73152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81F2B"/>
                </a:solidFill>
                <a:latin typeface="Malgun Gothic"/>
                <a:ea typeface="Malgun Gothic"/>
                <a:cs typeface="Malgun Gothic"/>
              </a:rPr>
              <a:t>정제 없이 원본 그대로 전송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57200" y="7260336"/>
            <a:ext cx="6645584" cy="384048"/>
          </a:xfrm>
          <a:prstGeom prst="roundRect">
            <a:avLst>
              <a:gd name="adj" fmla="val 9000"/>
            </a:avLst>
          </a:prstGeom>
          <a:solidFill>
            <a:srgbClr val="F3F5F8"/>
          </a:solidFill>
          <a:ln w="9525">
            <a:solidFill>
              <a:srgbClr val="E7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40080" y="7260336"/>
            <a:ext cx="2011680" cy="384048"/>
          </a:xfrm>
          <a:prstGeom prst="rect">
            <a:avLst/>
          </a:prstGeom>
          <a:noFill/>
        </p:spPr>
        <p:txBody>
          <a:bodyPr wrap="square" lIns="73152" tIns="0" rIns="73152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E4002B"/>
                </a:solidFill>
                <a:latin typeface="Malgun Gothic"/>
                <a:ea typeface="Malgun Gothic"/>
                <a:cs typeface="Malgun Gothic"/>
              </a:rPr>
              <a:t>✕  취소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697480" y="7260336"/>
            <a:ext cx="4222424" cy="384048"/>
          </a:xfrm>
          <a:prstGeom prst="rect">
            <a:avLst/>
          </a:prstGeom>
          <a:noFill/>
        </p:spPr>
        <p:txBody>
          <a:bodyPr wrap="square" lIns="73152" tIns="0" rIns="73152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81F2B"/>
                </a:solidFill>
                <a:latin typeface="Malgun Gothic"/>
                <a:ea typeface="Malgun Gothic"/>
                <a:cs typeface="Malgun Gothic"/>
              </a:rPr>
              <a:t>@refine 원본을 입력창에 복원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7827263"/>
            <a:ext cx="6645584" cy="274320"/>
          </a:xfrm>
          <a:prstGeom prst="rect">
            <a:avLst/>
          </a:prstGeom>
          <a:noFill/>
        </p:spPr>
        <p:txBody>
          <a:bodyPr wrap="square" lIns="73152" tIns="0" rIns="73152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181F2B"/>
                </a:solidFill>
                <a:latin typeface="Malgun Gothic"/>
                <a:ea typeface="Malgun Gothic"/>
                <a:cs typeface="Malgun Gothic"/>
              </a:rPr>
              <a:t>설계 불변식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57200" y="8193023"/>
            <a:ext cx="2093274" cy="384048"/>
          </a:xfrm>
          <a:prstGeom prst="roundRect">
            <a:avLst>
              <a:gd name="adj" fmla="val 50000"/>
            </a:avLst>
          </a:prstGeom>
          <a:solidFill>
            <a:srgbClr val="0F1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457200" y="8193023"/>
            <a:ext cx="2093274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Calibri"/>
                <a:ea typeface="Malgun Gothic"/>
                <a:cs typeface="Calibri"/>
              </a:rPr>
              <a:t>fail-open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2733354" y="8193023"/>
            <a:ext cx="2093274" cy="384048"/>
          </a:xfrm>
          <a:prstGeom prst="roundRect">
            <a:avLst>
              <a:gd name="adj" fmla="val 50000"/>
            </a:avLst>
          </a:prstGeom>
          <a:solidFill>
            <a:srgbClr val="0F1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2733354" y="8193023"/>
            <a:ext cx="2093274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명시 호출만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5009509" y="8193023"/>
            <a:ext cx="2093274" cy="384048"/>
          </a:xfrm>
          <a:prstGeom prst="roundRect">
            <a:avLst>
              <a:gd name="adj" fmla="val 50000"/>
            </a:avLst>
          </a:prstGeom>
          <a:solidFill>
            <a:srgbClr val="0F1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5009509" y="8193023"/>
            <a:ext cx="2093274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승인 게이트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457200" y="8668511"/>
            <a:ext cx="2093274" cy="384048"/>
          </a:xfrm>
          <a:prstGeom prst="roundRect">
            <a:avLst>
              <a:gd name="adj" fmla="val 50000"/>
            </a:avLst>
          </a:prstGeom>
          <a:solidFill>
            <a:srgbClr val="0F1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457200" y="8668511"/>
            <a:ext cx="2093274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의존성 0 (FE)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2733354" y="8668511"/>
            <a:ext cx="2093274" cy="384048"/>
          </a:xfrm>
          <a:prstGeom prst="roundRect">
            <a:avLst>
              <a:gd name="adj" fmla="val 50000"/>
            </a:avLst>
          </a:prstGeom>
          <a:solidFill>
            <a:srgbClr val="0F1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2733354" y="8668511"/>
            <a:ext cx="2093274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JSONL 동결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5009509" y="8668511"/>
            <a:ext cx="2093274" cy="384048"/>
          </a:xfrm>
          <a:prstGeom prst="roundRect">
            <a:avLst>
              <a:gd name="adj" fmla="val 50000"/>
            </a:avLst>
          </a:prstGeom>
          <a:solidFill>
            <a:srgbClr val="0F1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5009509" y="8668511"/>
            <a:ext cx="2093274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데이터 보존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57200" y="10271363"/>
            <a:ext cx="6096944" cy="274320"/>
          </a:xfrm>
          <a:prstGeom prst="rect">
            <a:avLst/>
          </a:prstGeom>
          <a:noFill/>
        </p:spPr>
        <p:txBody>
          <a:bodyPr wrap="square" lIns="73152" tIns="0" rIns="73152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 i="0">
                <a:solidFill>
                  <a:srgbClr val="181F2B"/>
                </a:solidFill>
                <a:latin typeface="Cambria"/>
                <a:ea typeface="Malgun Gothic"/>
                <a:cs typeface="Cambria"/>
              </a:rPr>
              <a:t>Copilot Meta-Prompting</a:t>
            </a:r>
            <a:r>
              <a:rPr sz="850" b="0" i="0">
                <a:solidFill>
                  <a:srgbClr val="9AA4AE"/>
                </a:solidFill>
                <a:latin typeface="Malgun Gothic"/>
                <a:ea typeface="Malgun Gothic"/>
                <a:cs typeface="Malgun Gothic"/>
              </a:rPr>
              <a:t>    ·    SW Bootcamp 13기 C반 4팀    ·    github.com/swbteng/copilot-meta-prompting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371264" y="10271363"/>
            <a:ext cx="731520" cy="274320"/>
          </a:xfrm>
          <a:prstGeom prst="rect">
            <a:avLst/>
          </a:prstGeom>
          <a:noFill/>
        </p:spPr>
        <p:txBody>
          <a:bodyPr wrap="square" lIns="73152" tIns="0" r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1" i="0">
                <a:solidFill>
                  <a:srgbClr val="9AA4AE"/>
                </a:solidFill>
                <a:latin typeface="Cambria"/>
                <a:ea typeface="Malgun Gothic"/>
                <a:cs typeface="Cambria"/>
              </a:rPr>
              <a:t>3 / 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457200" y="566928"/>
            <a:ext cx="420624" cy="420624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mbria"/>
                <a:ea typeface="Malgun Gothic"/>
                <a:cs typeface="Cambria"/>
              </a:rP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530352"/>
            <a:ext cx="6042080" cy="256032"/>
          </a:xfrm>
          <a:prstGeom prst="rect">
            <a:avLst/>
          </a:prstGeom>
          <a:noFill/>
        </p:spPr>
        <p:txBody>
          <a:bodyPr wrap="square" lIns="73152" tIns="0" rIns="73152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 spc="60">
                <a:solidFill>
                  <a:srgbClr val="E4002B"/>
                </a:solidFill>
                <a:latin typeface="Malgun Gothic"/>
                <a:ea typeface="Malgun Gothic"/>
                <a:cs typeface="Malgun Gothic"/>
              </a:rPr>
              <a:t>기술 스택 &amp; 결과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713232"/>
            <a:ext cx="6042080" cy="365760"/>
          </a:xfrm>
          <a:prstGeom prst="rect">
            <a:avLst/>
          </a:prstGeom>
          <a:noFill/>
        </p:spPr>
        <p:txBody>
          <a:bodyPr wrap="square" lIns="73152" tIns="0" rIns="73152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 i="0">
                <a:solidFill>
                  <a:srgbClr val="181F2B"/>
                </a:solidFill>
                <a:latin typeface="Malgun Gothic"/>
                <a:ea typeface="Malgun Gothic"/>
                <a:cs typeface="Malgun Gothic"/>
              </a:rPr>
              <a:t>무엇으로 만들었고, 무엇을 이뤘는가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17320"/>
            <a:ext cx="2044506" cy="4160520"/>
          </a:xfrm>
          <a:prstGeom prst="roundRect">
            <a:avLst>
              <a:gd name="adj" fmla="val 4500"/>
            </a:avLst>
          </a:prstGeom>
          <a:solidFill>
            <a:srgbClr val="F3F5F8"/>
          </a:solidFill>
          <a:ln w="12700">
            <a:solidFill>
              <a:srgbClr val="E7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21792" y="1600200"/>
            <a:ext cx="1715322" cy="365760"/>
          </a:xfrm>
          <a:prstGeom prst="roundRect">
            <a:avLst>
              <a:gd name="adj" fmla="val 30000"/>
            </a:avLst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21792" y="1600200"/>
            <a:ext cx="1715322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 spc="40">
                <a:solidFill>
                  <a:srgbClr val="FFFFFF"/>
                </a:solidFill>
                <a:latin typeface="Calibri"/>
                <a:ea typeface="Malgun Gothic"/>
                <a:cs typeface="Calibri"/>
              </a:rPr>
              <a:t>FRONTEND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30552"/>
            <a:ext cx="1715322" cy="548640"/>
          </a:xfrm>
          <a:prstGeom prst="rect">
            <a:avLst/>
          </a:prstGeom>
          <a:noFill/>
        </p:spPr>
        <p:txBody>
          <a:bodyPr wrap="square" lIns="73152" tIns="0" rIns="73152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 i="0">
                <a:solidFill>
                  <a:srgbClr val="E4002B"/>
                </a:solidFill>
                <a:latin typeface="Calibri"/>
                <a:ea typeface="Malgun Gothic"/>
                <a:cs typeface="Calibri"/>
              </a:rPr>
              <a:t>● </a:t>
            </a:r>
            <a:r>
              <a:rPr sz="1100" b="0" i="0">
                <a:solidFill>
                  <a:srgbClr val="181F2B"/>
                </a:solidFill>
                <a:latin typeface="Calibri"/>
                <a:ea typeface="Malgun Gothic"/>
                <a:cs typeface="Calibri"/>
              </a:rPr>
              <a:t>VS Code Extension API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79192"/>
            <a:ext cx="1715322" cy="548640"/>
          </a:xfrm>
          <a:prstGeom prst="rect">
            <a:avLst/>
          </a:prstGeom>
          <a:noFill/>
        </p:spPr>
        <p:txBody>
          <a:bodyPr wrap="square" lIns="73152" tIns="0" rIns="73152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 i="0">
                <a:solidFill>
                  <a:srgbClr val="E4002B"/>
                </a:solidFill>
                <a:latin typeface="Calibri"/>
                <a:ea typeface="Malgun Gothic"/>
                <a:cs typeface="Calibri"/>
              </a:rPr>
              <a:t>● </a:t>
            </a:r>
            <a:r>
              <a:rPr sz="1100" b="0" i="0">
                <a:solidFill>
                  <a:srgbClr val="181F2B"/>
                </a:solidFill>
                <a:latin typeface="Calibri"/>
                <a:ea typeface="Malgun Gothic"/>
                <a:cs typeface="Calibri"/>
              </a:rPr>
              <a:t>Chat Participant API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227832"/>
            <a:ext cx="1715322" cy="548640"/>
          </a:xfrm>
          <a:prstGeom prst="rect">
            <a:avLst/>
          </a:prstGeom>
          <a:noFill/>
        </p:spPr>
        <p:txBody>
          <a:bodyPr wrap="square" lIns="73152" tIns="0" rIns="73152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 i="0">
                <a:solidFill>
                  <a:srgbClr val="E4002B"/>
                </a:solidFill>
                <a:latin typeface="Calibri"/>
                <a:ea typeface="Malgun Gothic"/>
                <a:cs typeface="Calibri"/>
              </a:rPr>
              <a:t>● </a:t>
            </a:r>
            <a:r>
              <a:rPr sz="1100" b="0" i="0">
                <a:solidFill>
                  <a:srgbClr val="181F2B"/>
                </a:solidFill>
                <a:latin typeface="Calibri"/>
                <a:ea typeface="Malgun Gothic"/>
                <a:cs typeface="Calibri"/>
              </a:rPr>
              <a:t>WebviewView + CSP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776472"/>
            <a:ext cx="1715322" cy="548640"/>
          </a:xfrm>
          <a:prstGeom prst="rect">
            <a:avLst/>
          </a:prstGeom>
          <a:noFill/>
        </p:spPr>
        <p:txBody>
          <a:bodyPr wrap="square" lIns="73152" tIns="0" rIns="73152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 i="0">
                <a:solidFill>
                  <a:srgbClr val="E4002B"/>
                </a:solidFill>
                <a:latin typeface="Calibri"/>
                <a:ea typeface="Malgun Gothic"/>
                <a:cs typeface="Calibri"/>
              </a:rPr>
              <a:t>● </a:t>
            </a:r>
            <a:r>
              <a:rPr sz="1100" b="0" i="0">
                <a:solidFill>
                  <a:srgbClr val="181F2B"/>
                </a:solidFill>
                <a:latin typeface="Calibri"/>
                <a:ea typeface="Malgun Gothic"/>
                <a:cs typeface="Calibri"/>
              </a:rPr>
              <a:t>Node http / https / fs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325112"/>
            <a:ext cx="1715322" cy="548640"/>
          </a:xfrm>
          <a:prstGeom prst="rect">
            <a:avLst/>
          </a:prstGeom>
          <a:noFill/>
        </p:spPr>
        <p:txBody>
          <a:bodyPr wrap="square" lIns="73152" tIns="0" rIns="73152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 i="0">
                <a:solidFill>
                  <a:srgbClr val="E4002B"/>
                </a:solidFill>
                <a:latin typeface="Calibri"/>
                <a:ea typeface="Malgun Gothic"/>
                <a:cs typeface="Calibri"/>
              </a:rPr>
              <a:t>● </a:t>
            </a:r>
            <a:r>
              <a:rPr sz="1100" b="0" i="0">
                <a:solidFill>
                  <a:srgbClr val="181F2B"/>
                </a:solidFill>
                <a:latin typeface="Calibri"/>
                <a:ea typeface="Malgun Gothic"/>
                <a:cs typeface="Calibri"/>
              </a:rPr>
              <a:t>JSONL · @vscode/vsce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873751"/>
            <a:ext cx="1715322" cy="548640"/>
          </a:xfrm>
          <a:prstGeom prst="rect">
            <a:avLst/>
          </a:prstGeom>
          <a:noFill/>
        </p:spPr>
        <p:txBody>
          <a:bodyPr wrap="square" lIns="73152" tIns="0" rIns="73152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 i="0">
                <a:solidFill>
                  <a:srgbClr val="E4002B"/>
                </a:solidFill>
                <a:latin typeface="Calibri"/>
                <a:ea typeface="Malgun Gothic"/>
                <a:cs typeface="Calibri"/>
              </a:rPr>
              <a:t>● </a:t>
            </a:r>
            <a:r>
              <a:rPr sz="1100" b="0" i="0">
                <a:solidFill>
                  <a:srgbClr val="181F2B"/>
                </a:solidFill>
                <a:latin typeface="Malgun Gothic"/>
                <a:ea typeface="Malgun Gothic"/>
                <a:cs typeface="Malgun Gothic"/>
              </a:rPr>
              <a:t>런타임 의존성 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57738" y="1417320"/>
            <a:ext cx="2044506" cy="4160520"/>
          </a:xfrm>
          <a:prstGeom prst="roundRect">
            <a:avLst>
              <a:gd name="adj" fmla="val 4500"/>
            </a:avLst>
          </a:prstGeom>
          <a:solidFill>
            <a:srgbClr val="F3F5F8"/>
          </a:solidFill>
          <a:ln w="12700">
            <a:solidFill>
              <a:srgbClr val="E7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2922330" y="1600200"/>
            <a:ext cx="1715322" cy="365760"/>
          </a:xfrm>
          <a:prstGeom prst="roundRect">
            <a:avLst>
              <a:gd name="adj" fmla="val 30000"/>
            </a:avLst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922330" y="1600200"/>
            <a:ext cx="1715322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 spc="40">
                <a:solidFill>
                  <a:srgbClr val="FFFFFF"/>
                </a:solidFill>
                <a:latin typeface="Calibri"/>
                <a:ea typeface="Malgun Gothic"/>
                <a:cs typeface="Calibri"/>
              </a:rPr>
              <a:t>BACKEND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40618" y="2130552"/>
            <a:ext cx="1715322" cy="548640"/>
          </a:xfrm>
          <a:prstGeom prst="rect">
            <a:avLst/>
          </a:prstGeom>
          <a:noFill/>
        </p:spPr>
        <p:txBody>
          <a:bodyPr wrap="square" lIns="73152" tIns="0" rIns="73152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 i="0">
                <a:solidFill>
                  <a:srgbClr val="E4002B"/>
                </a:solidFill>
                <a:latin typeface="Calibri"/>
                <a:ea typeface="Malgun Gothic"/>
                <a:cs typeface="Calibri"/>
              </a:rPr>
              <a:t>● </a:t>
            </a:r>
            <a:r>
              <a:rPr sz="1100" b="0" i="0">
                <a:solidFill>
                  <a:srgbClr val="181F2B"/>
                </a:solidFill>
                <a:latin typeface="Calibri"/>
                <a:ea typeface="Malgun Gothic"/>
                <a:cs typeface="Calibri"/>
              </a:rPr>
              <a:t>FastAPI · uvicorn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40618" y="2679192"/>
            <a:ext cx="1715322" cy="548640"/>
          </a:xfrm>
          <a:prstGeom prst="rect">
            <a:avLst/>
          </a:prstGeom>
          <a:noFill/>
        </p:spPr>
        <p:txBody>
          <a:bodyPr wrap="square" lIns="73152" tIns="0" rIns="73152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 i="0">
                <a:solidFill>
                  <a:srgbClr val="E4002B"/>
                </a:solidFill>
                <a:latin typeface="Calibri"/>
                <a:ea typeface="Malgun Gothic"/>
                <a:cs typeface="Calibri"/>
              </a:rPr>
              <a:t>● </a:t>
            </a:r>
            <a:r>
              <a:rPr sz="1100" b="0" i="0">
                <a:solidFill>
                  <a:srgbClr val="181F2B"/>
                </a:solidFill>
                <a:latin typeface="Calibri"/>
                <a:ea typeface="Malgun Gothic"/>
                <a:cs typeface="Calibri"/>
              </a:rPr>
              <a:t>requests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40618" y="3227832"/>
            <a:ext cx="1715322" cy="548640"/>
          </a:xfrm>
          <a:prstGeom prst="rect">
            <a:avLst/>
          </a:prstGeom>
          <a:noFill/>
        </p:spPr>
        <p:txBody>
          <a:bodyPr wrap="square" lIns="73152" tIns="0" rIns="73152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 i="0">
                <a:solidFill>
                  <a:srgbClr val="E4002B"/>
                </a:solidFill>
                <a:latin typeface="Calibri"/>
                <a:ea typeface="Malgun Gothic"/>
                <a:cs typeface="Calibri"/>
              </a:rPr>
              <a:t>● </a:t>
            </a:r>
            <a:r>
              <a:rPr sz="1100" b="0" i="0">
                <a:solidFill>
                  <a:srgbClr val="181F2B"/>
                </a:solidFill>
                <a:latin typeface="Calibri"/>
                <a:ea typeface="Malgun Gothic"/>
                <a:cs typeface="Calibri"/>
              </a:rPr>
              <a:t>ChromaDB 1.5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40618" y="3776472"/>
            <a:ext cx="1715322" cy="548640"/>
          </a:xfrm>
          <a:prstGeom prst="rect">
            <a:avLst/>
          </a:prstGeom>
          <a:noFill/>
        </p:spPr>
        <p:txBody>
          <a:bodyPr wrap="square" lIns="73152" tIns="0" rIns="73152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 i="0">
                <a:solidFill>
                  <a:srgbClr val="E4002B"/>
                </a:solidFill>
                <a:latin typeface="Calibri"/>
                <a:ea typeface="Malgun Gothic"/>
                <a:cs typeface="Calibri"/>
              </a:rPr>
              <a:t>● </a:t>
            </a:r>
            <a:r>
              <a:rPr sz="1100" b="0" i="0">
                <a:solidFill>
                  <a:srgbClr val="181F2B"/>
                </a:solidFill>
                <a:latin typeface="Calibri"/>
                <a:ea typeface="Malgun Gothic"/>
                <a:cs typeface="Calibri"/>
              </a:rPr>
              <a:t>OpenAI SDK 2.44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40618" y="4325112"/>
            <a:ext cx="1715322" cy="548640"/>
          </a:xfrm>
          <a:prstGeom prst="rect">
            <a:avLst/>
          </a:prstGeom>
          <a:noFill/>
        </p:spPr>
        <p:txBody>
          <a:bodyPr wrap="square" lIns="73152" tIns="0" rIns="73152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 i="0">
                <a:solidFill>
                  <a:srgbClr val="E4002B"/>
                </a:solidFill>
                <a:latin typeface="Calibri"/>
                <a:ea typeface="Malgun Gothic"/>
                <a:cs typeface="Calibri"/>
              </a:rPr>
              <a:t>● </a:t>
            </a:r>
            <a:r>
              <a:rPr sz="1100" b="0" i="0">
                <a:solidFill>
                  <a:srgbClr val="181F2B"/>
                </a:solidFill>
                <a:latin typeface="Calibri"/>
                <a:ea typeface="Malgun Gothic"/>
                <a:cs typeface="Calibri"/>
              </a:rPr>
              <a:t>scikit-learn (viz)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40618" y="4873751"/>
            <a:ext cx="1715322" cy="548640"/>
          </a:xfrm>
          <a:prstGeom prst="rect">
            <a:avLst/>
          </a:prstGeom>
          <a:noFill/>
        </p:spPr>
        <p:txBody>
          <a:bodyPr wrap="square" lIns="73152" tIns="0" rIns="73152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 i="0">
                <a:solidFill>
                  <a:srgbClr val="E4002B"/>
                </a:solidFill>
                <a:latin typeface="Calibri"/>
                <a:ea typeface="Malgun Gothic"/>
                <a:cs typeface="Calibri"/>
              </a:rPr>
              <a:t>● </a:t>
            </a:r>
            <a:r>
              <a:rPr sz="1100" b="0" i="0">
                <a:solidFill>
                  <a:srgbClr val="181F2B"/>
                </a:solidFill>
                <a:latin typeface="Malgun Gothic"/>
                <a:ea typeface="Malgun Gothic"/>
                <a:cs typeface="Malgun Gothic"/>
              </a:rPr>
              <a:t>버전 핀 고정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58277" y="1417320"/>
            <a:ext cx="2044506" cy="4160520"/>
          </a:xfrm>
          <a:prstGeom prst="roundRect">
            <a:avLst>
              <a:gd name="adj" fmla="val 4500"/>
            </a:avLst>
          </a:prstGeom>
          <a:solidFill>
            <a:srgbClr val="F3F5F8"/>
          </a:solidFill>
          <a:ln w="12700">
            <a:solidFill>
              <a:srgbClr val="E7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5222869" y="1600200"/>
            <a:ext cx="1715322" cy="365760"/>
          </a:xfrm>
          <a:prstGeom prst="roundRect">
            <a:avLst>
              <a:gd name="adj" fmla="val 30000"/>
            </a:avLst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222869" y="1600200"/>
            <a:ext cx="1715322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 spc="40">
                <a:solidFill>
                  <a:srgbClr val="FFFFFF"/>
                </a:solidFill>
                <a:latin typeface="Calibri"/>
                <a:ea typeface="Malgun Gothic"/>
                <a:cs typeface="Calibri"/>
              </a:rPr>
              <a:t>AI / INFRA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41157" y="2130552"/>
            <a:ext cx="1715322" cy="548640"/>
          </a:xfrm>
          <a:prstGeom prst="rect">
            <a:avLst/>
          </a:prstGeom>
          <a:noFill/>
        </p:spPr>
        <p:txBody>
          <a:bodyPr wrap="square" lIns="73152" tIns="0" rIns="73152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 i="0">
                <a:solidFill>
                  <a:srgbClr val="E4002B"/>
                </a:solidFill>
                <a:latin typeface="Calibri"/>
                <a:ea typeface="Malgun Gothic"/>
                <a:cs typeface="Calibri"/>
              </a:rPr>
              <a:t>● </a:t>
            </a:r>
            <a:r>
              <a:rPr sz="1100" b="0" i="0">
                <a:solidFill>
                  <a:srgbClr val="181F2B"/>
                </a:solidFill>
                <a:latin typeface="Calibri"/>
                <a:ea typeface="Malgun Gothic"/>
                <a:cs typeface="Calibri"/>
              </a:rPr>
              <a:t>vLLM 0.19.1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41157" y="2679192"/>
            <a:ext cx="1715322" cy="548640"/>
          </a:xfrm>
          <a:prstGeom prst="rect">
            <a:avLst/>
          </a:prstGeom>
          <a:noFill/>
        </p:spPr>
        <p:txBody>
          <a:bodyPr wrap="square" lIns="73152" tIns="0" rIns="73152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 i="0">
                <a:solidFill>
                  <a:srgbClr val="E4002B"/>
                </a:solidFill>
                <a:latin typeface="Calibri"/>
                <a:ea typeface="Malgun Gothic"/>
                <a:cs typeface="Calibri"/>
              </a:rPr>
              <a:t>● </a:t>
            </a:r>
            <a:r>
              <a:rPr sz="1100" b="0" i="0">
                <a:solidFill>
                  <a:srgbClr val="181F2B"/>
                </a:solidFill>
                <a:latin typeface="Calibri"/>
                <a:ea typeface="Malgun Gothic"/>
                <a:cs typeface="Calibri"/>
              </a:rPr>
              <a:t>Qwen3.6-35B (AWQ)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41157" y="3227832"/>
            <a:ext cx="1715322" cy="548640"/>
          </a:xfrm>
          <a:prstGeom prst="rect">
            <a:avLst/>
          </a:prstGeom>
          <a:noFill/>
        </p:spPr>
        <p:txBody>
          <a:bodyPr wrap="square" lIns="73152" tIns="0" rIns="73152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 i="0">
                <a:solidFill>
                  <a:srgbClr val="E4002B"/>
                </a:solidFill>
                <a:latin typeface="Calibri"/>
                <a:ea typeface="Malgun Gothic"/>
                <a:cs typeface="Calibri"/>
              </a:rPr>
              <a:t>● </a:t>
            </a:r>
            <a:r>
              <a:rPr sz="1100" b="0" i="0">
                <a:solidFill>
                  <a:srgbClr val="181F2B"/>
                </a:solidFill>
                <a:latin typeface="Calibri"/>
                <a:ea typeface="Malgun Gothic"/>
                <a:cs typeface="Calibri"/>
              </a:rPr>
              <a:t>Qwen3-Embedding-8B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41157" y="3776472"/>
            <a:ext cx="1715322" cy="548640"/>
          </a:xfrm>
          <a:prstGeom prst="rect">
            <a:avLst/>
          </a:prstGeom>
          <a:noFill/>
        </p:spPr>
        <p:txBody>
          <a:bodyPr wrap="square" lIns="73152" tIns="0" rIns="73152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 i="0">
                <a:solidFill>
                  <a:srgbClr val="E4002B"/>
                </a:solidFill>
                <a:latin typeface="Calibri"/>
                <a:ea typeface="Malgun Gothic"/>
                <a:cs typeface="Calibri"/>
              </a:rPr>
              <a:t>● </a:t>
            </a:r>
            <a:r>
              <a:rPr sz="1100" b="0" i="0">
                <a:solidFill>
                  <a:srgbClr val="181F2B"/>
                </a:solidFill>
                <a:latin typeface="Calibri"/>
                <a:ea typeface="Malgun Gothic"/>
                <a:cs typeface="Calibri"/>
              </a:rPr>
              <a:t>Qwen3-Reranker-4B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241157" y="4325112"/>
            <a:ext cx="1715322" cy="548640"/>
          </a:xfrm>
          <a:prstGeom prst="rect">
            <a:avLst/>
          </a:prstGeom>
          <a:noFill/>
        </p:spPr>
        <p:txBody>
          <a:bodyPr wrap="square" lIns="73152" tIns="0" rIns="73152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 i="0">
                <a:solidFill>
                  <a:srgbClr val="E4002B"/>
                </a:solidFill>
                <a:latin typeface="Calibri"/>
                <a:ea typeface="Malgun Gothic"/>
                <a:cs typeface="Calibri"/>
              </a:rPr>
              <a:t>● </a:t>
            </a:r>
            <a:r>
              <a:rPr sz="1100" b="0" i="0">
                <a:solidFill>
                  <a:srgbClr val="181F2B"/>
                </a:solidFill>
                <a:latin typeface="Malgun Gothic"/>
                <a:ea typeface="Malgun Gothic"/>
                <a:cs typeface="Malgun Gothic"/>
              </a:rPr>
              <a:t>OpenAI 호환 /v1/*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241157" y="4873751"/>
            <a:ext cx="1715322" cy="548640"/>
          </a:xfrm>
          <a:prstGeom prst="rect">
            <a:avLst/>
          </a:prstGeom>
          <a:noFill/>
        </p:spPr>
        <p:txBody>
          <a:bodyPr wrap="square" lIns="73152" tIns="0" rIns="73152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 i="0">
                <a:solidFill>
                  <a:srgbClr val="E4002B"/>
                </a:solidFill>
                <a:latin typeface="Calibri"/>
                <a:ea typeface="Malgun Gothic"/>
                <a:cs typeface="Calibri"/>
              </a:rPr>
              <a:t>● </a:t>
            </a:r>
            <a:r>
              <a:rPr sz="1100" b="0" i="0">
                <a:solidFill>
                  <a:srgbClr val="181F2B"/>
                </a:solidFill>
                <a:latin typeface="Malgun Gothic"/>
                <a:ea typeface="Malgun Gothic"/>
                <a:cs typeface="Malgun Gothic"/>
              </a:rPr>
              <a:t>로컬 GPU / RunPod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5888736"/>
            <a:ext cx="7559984" cy="4236323"/>
          </a:xfrm>
          <a:prstGeom prst="rect">
            <a:avLst/>
          </a:prstGeom>
          <a:solidFill>
            <a:srgbClr val="0F1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57200" y="6126479"/>
            <a:ext cx="6645584" cy="274320"/>
          </a:xfrm>
          <a:prstGeom prst="rect">
            <a:avLst/>
          </a:prstGeom>
          <a:noFill/>
        </p:spPr>
        <p:txBody>
          <a:bodyPr wrap="square" lIns="73152" tIns="0" rIns="73152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 spc="80">
                <a:solidFill>
                  <a:srgbClr val="E4002B"/>
                </a:solidFill>
                <a:latin typeface="Malgun Gothic"/>
                <a:ea typeface="Malgun Gothic"/>
                <a:cs typeface="Malgun Gothic"/>
              </a:rPr>
              <a:t>결과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6364223"/>
            <a:ext cx="6645584" cy="365760"/>
          </a:xfrm>
          <a:prstGeom prst="rect">
            <a:avLst/>
          </a:prstGeom>
          <a:noFill/>
        </p:spPr>
        <p:txBody>
          <a:bodyPr wrap="square" lIns="73152" tIns="0" rIns="73152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요구사항 분석 → 설계 → 구현 → 테스트 → 실행까지 전 사이클 완결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57200" y="7389677"/>
            <a:ext cx="1496804" cy="2148840"/>
          </a:xfrm>
          <a:prstGeom prst="roundRect">
            <a:avLst>
              <a:gd name="adj" fmla="val 6000"/>
            </a:avLst>
          </a:prstGeom>
          <a:solidFill>
            <a:srgbClr val="2330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57200" y="7389677"/>
            <a:ext cx="1496804" cy="2148840"/>
          </a:xfrm>
          <a:prstGeom prst="rect">
            <a:avLst/>
          </a:prstGeom>
          <a:noFill/>
        </p:spPr>
        <p:txBody>
          <a:bodyPr wrap="square" lIns="45720" tIns="0" rIns="45720" bIns="0" anchor="ctr">
            <a:spAutoFit/>
          </a:bodyPr>
          <a:lstStyle/>
          <a:p>
            <a:pPr algn="ctr">
              <a:spcAft>
                <a:spcPts val="800"/>
              </a:spcAft>
            </a:pPr>
            <a:r>
              <a:rPr sz="2500" b="1" i="0">
                <a:solidFill>
                  <a:srgbClr val="E4002B"/>
                </a:solidFill>
                <a:latin typeface="Cambria"/>
                <a:ea typeface="Malgun Gothic"/>
                <a:cs typeface="Cambria"/>
              </a:rPr>
              <a:t>7 / 30</a:t>
            </a:r>
          </a:p>
          <a:p>
            <a:pPr algn="ctr">
              <a:spcAft>
                <a:spcPts val="0"/>
              </a:spcAft>
            </a:pPr>
            <a:r>
              <a:rPr sz="950" b="0" i="0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모듈 / 요구사항 구현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173460" y="7389677"/>
            <a:ext cx="1496804" cy="2148840"/>
          </a:xfrm>
          <a:prstGeom prst="roundRect">
            <a:avLst>
              <a:gd name="adj" fmla="val 6000"/>
            </a:avLst>
          </a:prstGeom>
          <a:solidFill>
            <a:srgbClr val="2330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2173460" y="7389677"/>
            <a:ext cx="1496804" cy="2148840"/>
          </a:xfrm>
          <a:prstGeom prst="rect">
            <a:avLst/>
          </a:prstGeom>
          <a:noFill/>
        </p:spPr>
        <p:txBody>
          <a:bodyPr wrap="square" lIns="45720" tIns="0" rIns="45720" bIns="0" anchor="ctr">
            <a:spAutoFit/>
          </a:bodyPr>
          <a:lstStyle/>
          <a:p>
            <a:pPr algn="ctr">
              <a:spcAft>
                <a:spcPts val="800"/>
              </a:spcAft>
            </a:pPr>
            <a:r>
              <a:rPr sz="2500" b="1" i="0">
                <a:solidFill>
                  <a:srgbClr val="E4002B"/>
                </a:solidFill>
                <a:latin typeface="Cambria"/>
                <a:ea typeface="Malgun Gothic"/>
                <a:cs typeface="Cambria"/>
              </a:rPr>
              <a:t>25 / 25</a:t>
            </a:r>
          </a:p>
          <a:p>
            <a:pPr algn="ctr">
              <a:spcAft>
                <a:spcPts val="0"/>
              </a:spcAft>
            </a:pPr>
            <a:r>
              <a:rPr sz="950" b="0" i="0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단위 테스트 통과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889720" y="7389677"/>
            <a:ext cx="1496804" cy="2148840"/>
          </a:xfrm>
          <a:prstGeom prst="roundRect">
            <a:avLst>
              <a:gd name="adj" fmla="val 6000"/>
            </a:avLst>
          </a:prstGeom>
          <a:solidFill>
            <a:srgbClr val="2330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3889720" y="7389677"/>
            <a:ext cx="1496804" cy="2148840"/>
          </a:xfrm>
          <a:prstGeom prst="rect">
            <a:avLst/>
          </a:prstGeom>
          <a:noFill/>
        </p:spPr>
        <p:txBody>
          <a:bodyPr wrap="square" lIns="45720" tIns="0" rIns="45720" bIns="0" anchor="ctr">
            <a:spAutoFit/>
          </a:bodyPr>
          <a:lstStyle/>
          <a:p>
            <a:pPr algn="ctr">
              <a:spcAft>
                <a:spcPts val="800"/>
              </a:spcAft>
            </a:pPr>
            <a:r>
              <a:rPr sz="1900" b="1" i="0">
                <a:solidFill>
                  <a:srgbClr val="E4002B"/>
                </a:solidFill>
                <a:latin typeface="Cambria"/>
                <a:ea typeface="Malgun Gothic"/>
                <a:cs typeface="Cambria"/>
              </a:rPr>
              <a:t>651 · 4096</a:t>
            </a:r>
          </a:p>
          <a:p>
            <a:pPr algn="ctr">
              <a:spcAft>
                <a:spcPts val="0"/>
              </a:spcAft>
            </a:pPr>
            <a:r>
              <a:rPr sz="950" b="0" i="0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템플릿 · 임베딩 차원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605980" y="7389677"/>
            <a:ext cx="1496804" cy="2148840"/>
          </a:xfrm>
          <a:prstGeom prst="roundRect">
            <a:avLst>
              <a:gd name="adj" fmla="val 6000"/>
            </a:avLst>
          </a:prstGeom>
          <a:solidFill>
            <a:srgbClr val="2330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605980" y="7389677"/>
            <a:ext cx="1496804" cy="2148840"/>
          </a:xfrm>
          <a:prstGeom prst="rect">
            <a:avLst/>
          </a:prstGeom>
          <a:noFill/>
        </p:spPr>
        <p:txBody>
          <a:bodyPr wrap="square" lIns="45720" tIns="0" rIns="45720" bIns="0" anchor="ctr">
            <a:spAutoFit/>
          </a:bodyPr>
          <a:lstStyle/>
          <a:p>
            <a:pPr algn="ctr">
              <a:spcAft>
                <a:spcPts val="800"/>
              </a:spcAft>
            </a:pPr>
            <a:r>
              <a:rPr sz="2500" b="1" i="0">
                <a:solidFill>
                  <a:srgbClr val="E4002B"/>
                </a:solidFill>
                <a:latin typeface="Cambria"/>
                <a:ea typeface="Malgun Gothic"/>
                <a:cs typeface="Cambria"/>
              </a:rPr>
              <a:t>0</a:t>
            </a:r>
          </a:p>
          <a:p>
            <a:pPr algn="ctr">
              <a:spcAft>
                <a:spcPts val="0"/>
              </a:spcAft>
            </a:pPr>
            <a:r>
              <a:rPr sz="950" b="0" i="0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FE 런타임 의존성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" y="10271363"/>
            <a:ext cx="6096944" cy="274320"/>
          </a:xfrm>
          <a:prstGeom prst="rect">
            <a:avLst/>
          </a:prstGeom>
          <a:noFill/>
        </p:spPr>
        <p:txBody>
          <a:bodyPr wrap="square" lIns="73152" tIns="0" rIns="73152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 i="0">
                <a:solidFill>
                  <a:srgbClr val="181F2B"/>
                </a:solidFill>
                <a:latin typeface="Cambria"/>
                <a:ea typeface="Malgun Gothic"/>
                <a:cs typeface="Cambria"/>
              </a:rPr>
              <a:t>Copilot Meta-Prompting</a:t>
            </a:r>
            <a:r>
              <a:rPr sz="850" b="0" i="0">
                <a:solidFill>
                  <a:srgbClr val="9AA4AE"/>
                </a:solidFill>
                <a:latin typeface="Malgun Gothic"/>
                <a:ea typeface="Malgun Gothic"/>
                <a:cs typeface="Malgun Gothic"/>
              </a:rPr>
              <a:t>    ·    SW Bootcamp 13기 C반 4팀    ·    github.com/swbteng/copilot-meta-prompting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71264" y="10271363"/>
            <a:ext cx="731520" cy="274320"/>
          </a:xfrm>
          <a:prstGeom prst="rect">
            <a:avLst/>
          </a:prstGeom>
          <a:noFill/>
        </p:spPr>
        <p:txBody>
          <a:bodyPr wrap="square" lIns="73152" tIns="0" r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1" i="0">
                <a:solidFill>
                  <a:srgbClr val="9AA4AE"/>
                </a:solidFill>
                <a:latin typeface="Cambria"/>
                <a:ea typeface="Malgun Gothic"/>
                <a:cs typeface="Cambria"/>
              </a:rPr>
              <a:t>4 / 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599</Words>
  <Application>Microsoft Office PowerPoint</Application>
  <PresentationFormat>사용자 지정</PresentationFormat>
  <Paragraphs>143</Paragraphs>
  <Slides>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9" baseType="lpstr">
      <vt:lpstr>Arial</vt:lpstr>
      <vt:lpstr>Malgun Gothic</vt:lpstr>
      <vt:lpstr>Calibri</vt:lpstr>
      <vt:lpstr>Cambria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subject/>
  <dc:creator/>
  <cp:keywords/>
  <dc:description>generated using python-pptx</dc:description>
  <cp:lastModifiedBy>홍창표/연구원/O&amp;O서비스개발팀</cp:lastModifiedBy>
  <cp:revision>2</cp:revision>
  <dcterms:created xsi:type="dcterms:W3CDTF">2013-01-27T09:14:16Z</dcterms:created>
  <dcterms:modified xsi:type="dcterms:W3CDTF">2026-07-01T00:18:20Z</dcterms:modified>
  <cp:category/>
</cp:coreProperties>
</file>
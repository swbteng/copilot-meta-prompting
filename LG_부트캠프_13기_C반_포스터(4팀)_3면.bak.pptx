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818" y="-35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984" cy="3493008"/>
          </a:xfrm>
          <a:prstGeom prst="rect">
            <a:avLst/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2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SW BOOTCAMP 13기   ·   C반 4팀   ·   프로젝트 요약 포스터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68096"/>
            <a:ext cx="6645584" cy="86868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100" b="1" i="0" dirty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Copilot </a:t>
            </a:r>
            <a:r>
              <a:rPr sz="4100" b="1" i="0" dirty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Meta-Prompting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6645584" cy="2308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500" b="0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VSCode</a:t>
            </a:r>
            <a:r>
              <a:rPr lang="ko-KR" altLang="en-US" sz="15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sz="15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Copilot</a:t>
            </a:r>
            <a:r>
              <a:rPr lang="ko-KR" altLang="en-US" sz="1500" b="0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확장에서 간편하게 사용하는 프롬프트 개선 서비스</a:t>
            </a:r>
            <a:endParaRPr sz="1500" b="0" i="0" dirty="0">
              <a:solidFill>
                <a:srgbClr val="CADCFC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139696"/>
            <a:ext cx="6645584" cy="548640"/>
          </a:xfrm>
          <a:prstGeom prst="roundRect">
            <a:avLst>
              <a:gd name="adj" fmla="val 9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10141"/>
            <a:ext cx="6279824" cy="207749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 dirty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@refine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lang="ko-KR" altLang="en-US"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간단한 프롬프트를 구조화된 프롬프트로</a:t>
            </a:r>
            <a:endParaRPr sz="1250" b="0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정제</a:t>
            </a:r>
            <a:endParaRPr sz="1150" b="1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75696" y="279806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2896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2896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1392" y="279806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8592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8592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리랭킹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7088" y="279806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84288" y="2798064"/>
            <a:ext cx="1318496" cy="40233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84288" y="2798064"/>
            <a:ext cx="13184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생성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675887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39311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22191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왜 메타프롬프팅인가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6645584" cy="41148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 err="1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200" b="1" i="0" dirty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2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짧고</a:t>
            </a:r>
            <a:r>
              <a:rPr sz="12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모호한</a:t>
            </a:r>
            <a:r>
              <a:rPr sz="12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프롬프트</a:t>
            </a:r>
            <a:r>
              <a:rPr sz="12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2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빗나간</a:t>
            </a:r>
            <a:r>
              <a:rPr sz="12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답 → </a:t>
            </a:r>
            <a:r>
              <a:rPr sz="12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다시</a:t>
            </a:r>
            <a:r>
              <a:rPr sz="12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묻는</a:t>
            </a:r>
            <a:r>
              <a:rPr sz="12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비효율</a:t>
            </a:r>
            <a:r>
              <a:rPr sz="12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토큰·시간</a:t>
            </a:r>
            <a:r>
              <a:rPr sz="12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낭비</a:t>
            </a:r>
            <a:r>
              <a:rPr sz="12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17720"/>
            <a:ext cx="6645584" cy="713232"/>
          </a:xfrm>
          <a:prstGeom prst="roundRect">
            <a:avLst>
              <a:gd name="adj" fmla="val 6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4772165"/>
            <a:ext cx="6206672" cy="404341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115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150" b="1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인사이트</a:t>
            </a:r>
            <a:r>
              <a:rPr sz="115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정답은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“더 </a:t>
            </a:r>
            <a:r>
              <a:rPr sz="1250" b="1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비싼</a:t>
            </a:r>
            <a:r>
              <a:rPr sz="1250" b="1" i="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1" i="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모델”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1" i="0" dirty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“더 </a:t>
            </a:r>
            <a:r>
              <a:rPr sz="1250" b="1" i="0" dirty="0" err="1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좋은</a:t>
            </a:r>
            <a:r>
              <a:rPr sz="1250" b="1" i="0" dirty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1" i="0" dirty="0" err="1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프롬프트</a:t>
            </a:r>
            <a:r>
              <a:rPr sz="1250" b="1" i="0" dirty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”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  </a:t>
            </a:r>
            <a:endParaRPr lang="en-US" sz="1250" b="0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25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		  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소형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모델도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잘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설계된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프롬프트면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고품질</a:t>
            </a:r>
            <a:r>
              <a:rPr sz="1250" b="0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250" b="1" i="0" dirty="0" err="1">
                <a:solidFill>
                  <a:srgbClr val="1E9E57"/>
                </a:solidFill>
                <a:latin typeface="Malgun Gothic"/>
                <a:ea typeface="Malgun Gothic"/>
                <a:cs typeface="Malgun Gothic"/>
              </a:rPr>
              <a:t>토큰</a:t>
            </a:r>
            <a:r>
              <a:rPr sz="1250" b="1" i="0" dirty="0">
                <a:solidFill>
                  <a:srgbClr val="1E9E5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1" i="0" dirty="0" err="1">
                <a:solidFill>
                  <a:srgbClr val="1E9E57"/>
                </a:solidFill>
                <a:latin typeface="Malgun Gothic"/>
                <a:ea typeface="Malgun Gothic"/>
                <a:cs typeface="Malgun Gothic"/>
              </a:rPr>
              <a:t>절감</a:t>
            </a:r>
            <a:r>
              <a:rPr sz="1250" b="0" i="0" dirty="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40680"/>
            <a:ext cx="6645584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실제 사용사례</a:t>
            </a:r>
            <a:r>
              <a:rPr sz="110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  원본 한 줄이 실무 설계 명세로 정제됩니다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42432"/>
            <a:ext cx="6645584" cy="566928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587959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87959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BEFORE · 원본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742432"/>
            <a:ext cx="4771064" cy="56692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“레이트 리미터 만들어줘”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27648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@refine</a:t>
            </a:r>
            <a:r>
              <a:rPr sz="1100" b="1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정제  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656832"/>
            <a:ext cx="6645584" cy="3504803"/>
          </a:xfrm>
          <a:prstGeom prst="roundRect">
            <a:avLst>
              <a:gd name="adj" fmla="val 3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680313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80313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AFTER · 정제본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7223760"/>
            <a:ext cx="1024128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7223760"/>
            <a:ext cx="5182544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대규모 트래픽 백엔드·분산 시스템 아키텍트 — 동시성·부하 분산·안정성 전문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7680960"/>
            <a:ext cx="1024128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임무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7680960"/>
            <a:ext cx="5182544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프로덕션급 Rate Limiter 설계·구현 — 단순 코드를 넘어 견고한 아키텍처 제안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8138160"/>
            <a:ext cx="1024128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필수 포함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8138160"/>
            <a:ext cx="5182544" cy="1246495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①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알고리즘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비교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— Token Bucket · Sliding Window · Fixed Window (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버스트·메모리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트레이드오프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②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동시성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안전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— Python/Go, Redis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분산으로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단일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인스턴스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한계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극복</a:t>
            </a:r>
            <a:r>
              <a:rPr lang="en-US" sz="105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.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한국어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주석</a:t>
            </a:r>
            <a:r>
              <a:rPr lang="en-US"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첨부</a:t>
            </a:r>
            <a:endParaRPr sz="1050" b="0" i="0" dirty="0">
              <a:solidFill>
                <a:srgbClr val="181F2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③ Race Condition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방지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— Lock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메커니즘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· Atomic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연산</a:t>
            </a:r>
            <a:endParaRPr sz="1050" b="0" i="0" dirty="0">
              <a:solidFill>
                <a:srgbClr val="181F2B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④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아키텍처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배치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위치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(Gateway vs App) ·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파라미터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window·max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예외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(HTTP </a:t>
            </a:r>
            <a:r>
              <a:rPr sz="1050" b="0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상태코드</a:t>
            </a:r>
            <a:r>
              <a:rPr sz="1050" b="0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9601200"/>
            <a:ext cx="1024128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출력 형식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9601200"/>
            <a:ext cx="5182544" cy="45720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알고리즘 선택 근거 · 아키텍처 다이어그램 · 구현 코드 블록 · 동시성·확장성 요약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1 / 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0E0442-267A-46CE-896D-EE93BB5BC026}"/>
              </a:ext>
            </a:extLst>
          </p:cNvPr>
          <p:cNvSpPr txBox="1"/>
          <p:nvPr/>
        </p:nvSpPr>
        <p:spPr>
          <a:xfrm>
            <a:off x="6371264" y="146078"/>
            <a:ext cx="1344930" cy="6771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1100" b="1" spc="12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김태용 연구원</a:t>
            </a:r>
            <a:endParaRPr lang="en-US" altLang="ko-KR" sz="1100" b="1" spc="120" dirty="0">
              <a:solidFill>
                <a:srgbClr val="CADCFC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spcAft>
                <a:spcPts val="0"/>
              </a:spcAft>
            </a:pPr>
            <a:r>
              <a:rPr lang="ko-KR" altLang="en-US" sz="1100" b="1" spc="12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김민정 연구원</a:t>
            </a:r>
            <a:endParaRPr lang="en-US" altLang="ko-KR" sz="1100" b="1" spc="120" dirty="0">
              <a:solidFill>
                <a:srgbClr val="CADCFC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spcAft>
                <a:spcPts val="0"/>
              </a:spcAft>
            </a:pPr>
            <a:r>
              <a:rPr lang="ko-KR" altLang="en-US" sz="1100" b="1" spc="12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박혜림</a:t>
            </a:r>
            <a:r>
              <a:rPr lang="ko-KR" altLang="en-US" sz="1100" b="1" spc="12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연구원</a:t>
            </a:r>
            <a:endParaRPr lang="en-US" altLang="ko-KR" sz="1100" b="1" spc="120" dirty="0">
              <a:solidFill>
                <a:srgbClr val="CADCFC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spcAft>
                <a:spcPts val="0"/>
              </a:spcAft>
            </a:pPr>
            <a:r>
              <a:rPr lang="ko-KR" altLang="en-US" sz="1100" b="1" spc="120" dirty="0" err="1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홍창표</a:t>
            </a:r>
            <a:r>
              <a:rPr lang="ko-KR" altLang="en-US" sz="1100" b="1" spc="120" dirty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 연구원</a:t>
            </a:r>
            <a:endParaRPr lang="en-US" altLang="ko-KR" sz="1100" b="1" spc="120" dirty="0">
              <a:solidFill>
                <a:srgbClr val="CADCFC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66928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530352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13232"/>
            <a:ext cx="6042080" cy="36576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전체 구조 — FE 확장 ↔ BE 파이프라인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6645584" cy="265176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61883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FRONTEND</a:t>
            </a:r>
            <a:r>
              <a:rPr sz="14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  —   VS Code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84248"/>
            <a:ext cx="618838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2286000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@refine 참가자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132056"/>
            <a:ext cx="3628064" cy="161583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정제</a:t>
            </a:r>
            <a:r>
              <a:rPr lang="ko-KR" altLang="en-US" sz="10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된 프롬프트 체크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+ 5선택지 </a:t>
            </a:r>
            <a:r>
              <a:rPr lang="ko-KR" altLang="en-US" sz="105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제시</a:t>
            </a:r>
            <a:endParaRPr sz="1050" b="0" i="0" dirty="0">
              <a:solidFill>
                <a:srgbClr val="66717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532888"/>
            <a:ext cx="618838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32888"/>
            <a:ext cx="2286000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사이드바 (Webview)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680696"/>
            <a:ext cx="3628064" cy="161583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원본→정제본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카드</a:t>
            </a:r>
            <a:r>
              <a:rPr sz="1050" b="0" i="0" dirty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i="0" dirty="0" err="1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검색</a:t>
            </a:r>
            <a:endParaRPr sz="1050" b="0" i="0" dirty="0">
              <a:solidFill>
                <a:srgbClr val="66717E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3081528"/>
            <a:ext cx="618838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2286000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로그 (JSONL)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081528"/>
            <a:ext cx="3628064" cy="45720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observe-YYYY-MM-DD.log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58184"/>
            <a:ext cx="6188384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4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순수 JS   ·   런타임 의존성 0   ·   승인 게이트 기반 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6645584" cy="32918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 spc="4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▼  HTTP   POST /refine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53128"/>
            <a:ext cx="6645584" cy="1481328"/>
          </a:xfrm>
          <a:prstGeom prst="roundRect">
            <a:avLst>
              <a:gd name="adj" fmla="val 4000"/>
            </a:avLst>
          </a:prstGeom>
          <a:solidFill>
            <a:srgbClr val="1A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599432"/>
            <a:ext cx="61883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BACKEND</a:t>
            </a:r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 —   Endpoint (FastAPI) · 메타프롬프팅 파이프라인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정제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4860" y="500176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28908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28908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검색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8908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7968" y="500176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2016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72016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리랭킹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2016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/rerank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1076" y="5001768"/>
            <a:ext cx="38404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15124" y="5001768"/>
            <a:ext cx="1259060" cy="713232"/>
          </a:xfrm>
          <a:prstGeom prst="roundRect">
            <a:avLst>
              <a:gd name="adj" fmla="val 7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15124" y="5093207"/>
            <a:ext cx="1259060" cy="310896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생성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5124" y="5385816"/>
            <a:ext cx="1259060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245352"/>
            <a:ext cx="3167344" cy="297180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6409944"/>
            <a:ext cx="2765008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4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AI INFRA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vLLM 서빙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7086600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LLM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Qwen3.6-35B-A3B (AWQ 4-bit)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7690104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Embedding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Qwen3-Embedding-8B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8293608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Reranker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Qwen3-Reranker-4B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5440" y="6245352"/>
            <a:ext cx="3167344" cy="2971800"/>
          </a:xfrm>
          <a:prstGeom prst="roundRect">
            <a:avLst>
              <a:gd name="adj" fmla="val 45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36608" y="6409944"/>
            <a:ext cx="2765008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4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VECTOR DB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50" b="1" i="0">
                <a:solidFill>
                  <a:srgbClr val="181F2B"/>
                </a:solidFill>
                <a:latin typeface="Calibri"/>
                <a:ea typeface="Malgun Gothic"/>
                <a:cs typeface="Calibri"/>
              </a:rPr>
              <a:t>Chroma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36608" y="7086600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템플릿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 651개 고품질 프롬프트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36608" y="7690104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임베딩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 4096차원 (Qwen3-8B)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36608" y="8293608"/>
            <a:ext cx="2765008" cy="54864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E4002B"/>
                </a:solidFill>
                <a:latin typeface="Calibri"/>
                <a:ea typeface="Malgun Gothic"/>
                <a:cs typeface="Calibri"/>
              </a:rPr>
              <a:t>● </a:t>
            </a:r>
            <a:r>
              <a:rPr sz="11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Calibri"/>
                <a:ea typeface="Malgun Gothic"/>
                <a:cs typeface="Calibri"/>
              </a:rPr>
              <a:t>   Top-20 → Reranker → Top-3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566928"/>
            <a:ext cx="420624" cy="42062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530352"/>
            <a:ext cx="6042080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6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파이프라인 &amp;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13232"/>
            <a:ext cx="6042080" cy="323165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ko-KR" altLang="en-US" sz="2100" b="1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프롬프트 향상 </a:t>
            </a:r>
            <a:r>
              <a:rPr lang="ko-KR" altLang="en-US" sz="2100" b="1" i="0" dirty="0" err="1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매커니즘</a:t>
            </a:r>
            <a:r>
              <a:rPr sz="2100" b="1" i="0" dirty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 — 4단계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6645584" cy="749808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563624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63040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LLM 정제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783080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78308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371600"/>
            <a:ext cx="3993824" cy="74980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모호한 입력을 명료한 영어 프롬프트로 재작성. 의도 보존.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6645584" cy="749808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2386584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86000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벡터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606040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60604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194560"/>
            <a:ext cx="3993824" cy="74980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재작성본을 임베딩해 Chroma 코사인 유사도 Top-20 검색.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17520"/>
            <a:ext cx="6645584" cy="749808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3209544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08960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리랭킹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429000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42900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017520"/>
            <a:ext cx="3993824" cy="74980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Reranker로 의미 적합성 재점수화 → 최종 Top-3 선별.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6645584" cy="749808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0080" y="4032504"/>
            <a:ext cx="365760" cy="36576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  <a:ea typeface="Malgun Gothic"/>
                <a:cs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931920"/>
            <a:ext cx="210312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LLM 최종 생성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251960"/>
            <a:ext cx="914400" cy="246888"/>
          </a:xfrm>
          <a:prstGeom prst="roundRect">
            <a:avLst>
              <a:gd name="adj" fmla="val 35000"/>
            </a:avLst>
          </a:prstGeom>
          <a:solidFill>
            <a:srgbClr val="0F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251960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CADCFC"/>
                </a:solidFill>
                <a:latin typeface="Calibri"/>
                <a:ea typeface="Malgun Gothic"/>
                <a:cs typeface="Calibri"/>
              </a:rPr>
              <a:t>/generate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840480"/>
            <a:ext cx="3993824" cy="74980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Top-3 중 최적 선택 + 원본 의도로 최종 프롬프트 합성.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9744"/>
            <a:ext cx="6645584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@refine UX</a:t>
            </a:r>
            <a:r>
              <a:rPr sz="1250" b="1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  —  5가지 승인 선택지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75504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175504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✓  전송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5175504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정제본 자동 전송 (기록 남김)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32704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632704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✎  수정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5632704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정제본을 입력창에 채워 편집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089904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089904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↻  다시 정제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6089904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동일 원본으로 재정제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547104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547104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→  원본 전송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6547104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정제 없이 원본 그대로 전송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7004304"/>
            <a:ext cx="6645584" cy="384048"/>
          </a:xfrm>
          <a:prstGeom prst="roundRect">
            <a:avLst>
              <a:gd name="adj" fmla="val 9000"/>
            </a:avLst>
          </a:prstGeom>
          <a:solidFill>
            <a:srgbClr val="F3F5F8"/>
          </a:solidFill>
          <a:ln w="9525">
            <a:solidFill>
              <a:srgbClr val="E7E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7004304"/>
            <a:ext cx="2011680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4002B"/>
                </a:solidFill>
                <a:latin typeface="Malgun Gothic"/>
                <a:ea typeface="Malgun Gothic"/>
                <a:cs typeface="Malgun Gothic"/>
              </a:rPr>
              <a:t>✕  취소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7004304"/>
            <a:ext cx="4222424" cy="384048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@refine 원본을 입력창에 복원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7589520"/>
            <a:ext cx="6645584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81F2B"/>
                </a:solidFill>
                <a:latin typeface="Malgun Gothic"/>
                <a:ea typeface="Malgun Gothic"/>
                <a:cs typeface="Malgun Gothic"/>
              </a:rPr>
              <a:t>결과 성과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7863840"/>
            <a:ext cx="6645584" cy="256032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17E"/>
                </a:solidFill>
                <a:latin typeface="Malgun Gothic"/>
                <a:ea typeface="Malgun Gothic"/>
                <a:cs typeface="Malgun Gothic"/>
              </a:rPr>
              <a:t>요구사항 분석 → 설계 → 구현 → 테스트 → 실행 전 사이클 완결   ·   확장 라인 커버리지 92%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8247888"/>
            <a:ext cx="1496804" cy="1822307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8412480"/>
            <a:ext cx="1496804" cy="1182227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9612995"/>
            <a:ext cx="1496804" cy="40233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 전건 구현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73460" y="8247888"/>
            <a:ext cx="1496804" cy="1822307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73460" y="8412480"/>
            <a:ext cx="1496804" cy="1182227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46 / 46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73460" y="9612995"/>
            <a:ext cx="1496804" cy="40233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테스트 통과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89720" y="8247888"/>
            <a:ext cx="1496804" cy="1822307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889720" y="8412480"/>
            <a:ext cx="1496804" cy="1182227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651 · 4096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9720" y="9612995"/>
            <a:ext cx="1496804" cy="40233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템플릿 · 임베딩 차원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05980" y="8247888"/>
            <a:ext cx="1496804" cy="1822307"/>
          </a:xfrm>
          <a:prstGeom prst="roundRect">
            <a:avLst>
              <a:gd name="adj" fmla="val 6000"/>
            </a:avLst>
          </a:prstGeom>
          <a:solidFill>
            <a:srgbClr val="23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605980" y="8412480"/>
            <a:ext cx="1496804" cy="1182227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E4002B"/>
                </a:solidFill>
                <a:latin typeface="Cambria"/>
                <a:ea typeface="Malgun Gothic"/>
                <a:cs typeface="Cambria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05980" y="9612995"/>
            <a:ext cx="1496804" cy="40233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FE 런타임 의존성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10271363"/>
            <a:ext cx="60969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81F2B"/>
                </a:solidFill>
                <a:latin typeface="Cambria"/>
                <a:ea typeface="Malgun Gothic"/>
                <a:cs typeface="Cambria"/>
              </a:rPr>
              <a:t>Copilot Meta-Prompting</a:t>
            </a:r>
            <a:r>
              <a:rPr sz="850" b="0" i="0">
                <a:solidFill>
                  <a:srgbClr val="9AA4AE"/>
                </a:solidFill>
                <a:latin typeface="Malgun Gothic"/>
                <a:ea typeface="Malgun Gothic"/>
                <a:cs typeface="Malgun Gothic"/>
              </a:rPr>
              <a:t>    ·    SW Bootcamp 13기 C반 4팀    ·    github.com/swbteng/copilot-meta-prompting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1264" y="10271363"/>
            <a:ext cx="731520" cy="274320"/>
          </a:xfrm>
          <a:prstGeom prst="rect">
            <a:avLst/>
          </a:prstGeom>
          <a:noFill/>
        </p:spPr>
        <p:txBody>
          <a:bodyPr wrap="square" lIns="73152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AA4AE"/>
                </a:solidFill>
                <a:latin typeface="Cambria"/>
                <a:ea typeface="Malgun Gothic"/>
                <a:cs typeface="Cambria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595</Words>
  <Application>Microsoft Office PowerPoint</Application>
  <PresentationFormat>사용자 지정</PresentationFormat>
  <Paragraphs>123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Malgun Gothic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홍창표/연구원/O&amp;O서비스개발팀</cp:lastModifiedBy>
  <cp:revision>4</cp:revision>
  <dcterms:created xsi:type="dcterms:W3CDTF">2013-01-27T09:14:16Z</dcterms:created>
  <dcterms:modified xsi:type="dcterms:W3CDTF">2026-07-01T06:40:21Z</dcterms:modified>
  <cp:category/>
</cp:coreProperties>
</file>